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Arranco con la propuesta 001, código KD12, para el TDEA. Me presento como líder técnico. Digo los cinco bloques que voy a cubrir y sigo. Si preguntan por qué el cliente es el TDEA y el objetivo habla de ForUsAll: el TDEA recibe y evalúa la propuesta, y ForUsAll es la organización cuyos procedimientos se van a consultar.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Presento al equipo por nombre y rol. Aclaro que no hay roles de gestión pura, los cuatro construimos. Yo llevo la arquitectura y respondo por el proyecto. La pregunta previsible es qué pasa si alguien falta, porque somos cuatro roles sin repetir y con dedicación parcial. La respuesta es que cada entregable tiene un responsable y un apoyo, y que las revisiones son cruzadas.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Leo el objetivo tal como quedó en la propuesta. A la izquierda, el problema en tres pasos. Aquí no falta contenido, la documentación existe y está aprobada, lo que falla es la manera de llegar a ella. A la derecha, lo que devuelve cada consulta, y las cuatro cosas hacen parte del entregable. El recuadro verde es lo que más me interesa: que la herramienta avise cuando no tiene con qué responder. Prefiero un no sé antes que una respuesta bien redactada y sin sustento.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Aquí me adelanto a la pregunta obvia. Un jurado mira la carátula, ve 31 de agosto, mira la tabla, ve que el Sprint 0 abrió el 5 de agosto, y hace la resta en dos segundos. Así que lo digo yo primero, y está escrito en la banda de abajo. El alcance se aprobó el 12 de agosto al cerrar el Sprint 0, y el documento del 31 formaliza ese acuerdo en el formato que pidió el docente. La fecha de entrega, el 21 de octubre, viene del calendario de la asignatura y no se mueve. Ojo con una cosa: si marco cerrados el Sprint 0 y el 1, tengo que poder mostrar el hito H2, es decir la búsqueda funcionando sobre el conocimiento indexado. Si no lo puedo mostrar, mejor no marcarlo.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lámina más importante de las nueve. No leo las celdas. Explico que cada frente dice qué hace y qué no hace, para que nadie llegue en octubre con una expectativa que jamás estuvo escrita. Y digo en voz alta lo que está al pie: los dos primeros frentes cambian respecto al documento del 31 de agosto. Ahí ya no hay formulario de carga. Es mejor que lo diga yo que esperar a que lo encuentren. Otra exclusión que suele saltar es el control de versiones del conocimiento, que quedó pendiente de decidir con el cliente.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cuatro frentes que faltan. Dos cosas que quiero dejar dichas. La primera, el último frente: el plan asume que el material, el contacto y las credenciales llegan a tiempo, y si eso se atrasa las fechas se mueven. Queda escrito desde hoy para que después no parezca una excusa. La segunda, el pie de la lámina, que es el procedimiento de control de cambios. Si me preguntan cómo se limita el acceso sin autenticación, respondo con la verdad: es un entorno interno controlado y el detalle se define con el cliente, no está resuelto todavía.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Son dos mitades. La de arriba es trabajo nuestro y no corre sola. Alguien del equipo toma el procedimiento escrito y lo pasa a un artículo JSON. De ahí en adelante ya es automático. Todo eso pasa al preparar la base, no en cada consulta. La de abajo sí corre cada vez que alguien pregunta. Si preguntan por qué estructuramos a mano en lugar de tragarnos un archivo, la respuesta es control. Un archivo cargado hay que cortarlo a ciegas y el corte puede partir una regla por la mitad. Con el artículo escrito por secciones, el corte cae donde nosotros decidimos y cada fragmento sale con su tema y su nivel ya puestos. La calidad de las respuestas la define esa preparación mucho más que el modelo.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Separo a propósito lo que fija la propuesta de lo que decidimos nosotros, porque no quiero presentar como acordado algo que no está escrito en ningún documento. Las cuatro primeras filas vienen del PDF. Las cuatro últimas son mías como líder técnico y las puedo defender. Dos que me importan. El servicio escala a cero, así que fuera de horario no cuesta. Y las credenciales se inyectan cuando el servicio arranca, nunca quedan grabadas dentro de la imagen. Si alguien saca la sección de justificación del PDF, donde aparecen Azure y pgvector, respondo que esa parte quedó desactualizada y que vale la sección de recursos.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supuestos son la letra pequeña, y por eso los muestro en lugar de esconderlos. La columna de la izquierda depende del cliente. La de la derecha nos protege a nosotros: el plazo es fijo, el equipo no crece y no tocamos datos reales de nadie. La banda de abajo es la consecuencia, y la digo mirando al cliente. No es una amenaza, es lo que pasa. Cierro aquí y abro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31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3" name="Rectangle 2"/>
          <p:cNvSpPr/>
          <p:nvPr/>
        </p:nvSpPr>
        <p:spPr>
          <a:xfrm>
            <a:off x="0" y="0"/>
            <a:ext cx="274320" cy="6858000"/>
          </a:xfrm>
          <a:prstGeom prst="rect">
            <a:avLst/>
          </a:prstGeom>
          <a:solidFill>
            <a:srgbClr val="1B5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4" name="Rectangle 3"/>
          <p:cNvSpPr/>
          <p:nvPr/>
        </p:nvSpPr>
        <p:spPr>
          <a:xfrm>
            <a:off x="7848295" y="0"/>
            <a:ext cx="4343400" cy="6858000"/>
          </a:xfrm>
          <a:prstGeom prst="rect">
            <a:avLst/>
          </a:prstGeom>
          <a:solidFill>
            <a:srgbClr val="1028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5" name="TextBox 4"/>
          <p:cNvSpPr txBox="1"/>
          <p:nvPr/>
        </p:nvSpPr>
        <p:spPr>
          <a:xfrm>
            <a:off x="1143000" y="1572768"/>
            <a:ext cx="6400800" cy="365760"/>
          </a:xfrm>
          <a:prstGeom prst="rect">
            <a:avLst/>
          </a:prstGeom>
          <a:noFill/>
        </p:spPr>
        <p:txBody>
          <a:bodyPr wrap="square" lIns="0" rIns="0" tIns="0" bIns="0">
            <a:spAutoFit/>
          </a:bodyPr>
          <a:lstStyle/>
          <a:p>
            <a:pPr algn="l">
              <a:lnSpc>
                <a:spcPct val="118000"/>
              </a:lnSpc>
              <a:spcBef>
                <a:spcPts val="0"/>
              </a:spcBef>
              <a:spcAft>
                <a:spcPts val="0"/>
              </a:spcAft>
            </a:pPr>
            <a:r>
              <a:rPr sz="1150" b="1" i="0" spc="220">
                <a:solidFill>
                  <a:srgbClr val="B9D1EC"/>
                </a:solidFill>
                <a:latin typeface="Calibri"/>
              </a:rPr>
              <a:t>PROPUESTA COMERCIAL 001</a:t>
            </a:r>
          </a:p>
        </p:txBody>
      </p:sp>
      <p:sp>
        <p:nvSpPr>
          <p:cNvPr id="6" name="TextBox 5"/>
          <p:cNvSpPr txBox="1"/>
          <p:nvPr/>
        </p:nvSpPr>
        <p:spPr>
          <a:xfrm>
            <a:off x="1143000" y="1975104"/>
            <a:ext cx="6583680" cy="1463040"/>
          </a:xfrm>
          <a:prstGeom prst="rect">
            <a:avLst/>
          </a:prstGeom>
          <a:noFill/>
        </p:spPr>
        <p:txBody>
          <a:bodyPr wrap="square" lIns="0" rIns="0" tIns="0" bIns="0">
            <a:spAutoFit/>
          </a:bodyPr>
          <a:lstStyle/>
          <a:p>
            <a:pPr algn="l">
              <a:lnSpc>
                <a:spcPct val="100000"/>
              </a:lnSpc>
              <a:spcBef>
                <a:spcPts val="0"/>
              </a:spcBef>
              <a:spcAft>
                <a:spcPts val="0"/>
              </a:spcAft>
            </a:pPr>
            <a:r>
              <a:rPr sz="5400" b="1" i="0">
                <a:solidFill>
                  <a:srgbClr val="FFFFFF"/>
                </a:solidFill>
                <a:latin typeface="Calibri"/>
              </a:rPr>
              <a:t>Knowledge Desk</a:t>
            </a:r>
          </a:p>
          <a:p>
            <a:pPr algn="l">
              <a:lnSpc>
                <a:spcPct val="120000"/>
              </a:lnSpc>
              <a:spcBef>
                <a:spcPts val="1000"/>
              </a:spcBef>
              <a:spcAft>
                <a:spcPts val="0"/>
              </a:spcAft>
            </a:pPr>
            <a:r>
              <a:rPr sz="1700" b="0" i="0">
                <a:solidFill>
                  <a:srgbClr val="B9D1EC"/>
                </a:solidFill>
                <a:latin typeface="Calibri"/>
              </a:rPr>
              <a:t>Una herramienta web para consultar el conocimiento interno de ForUsAll</a:t>
            </a:r>
          </a:p>
        </p:txBody>
      </p:sp>
      <p:sp>
        <p:nvSpPr>
          <p:cNvPr id="7" name="Rectangle 6"/>
          <p:cNvSpPr/>
          <p:nvPr/>
        </p:nvSpPr>
        <p:spPr>
          <a:xfrm>
            <a:off x="1143000" y="4041648"/>
            <a:ext cx="1463040" cy="45720"/>
          </a:xfrm>
          <a:prstGeom prst="rect">
            <a:avLst/>
          </a:prstGeom>
          <a:solidFill>
            <a:srgbClr val="1B5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8" name="TextBox 7"/>
          <p:cNvSpPr txBox="1"/>
          <p:nvPr/>
        </p:nvSpPr>
        <p:spPr>
          <a:xfrm>
            <a:off x="1143000" y="4352544"/>
            <a:ext cx="6400800" cy="1280160"/>
          </a:xfrm>
          <a:prstGeom prst="rect">
            <a:avLst/>
          </a:prstGeom>
          <a:noFill/>
        </p:spPr>
        <p:txBody>
          <a:bodyPr wrap="square" lIns="0" rIns="0" tIns="0" bIns="0">
            <a:spAutoFit/>
          </a:bodyPr>
          <a:lstStyle/>
          <a:p>
            <a:pPr algn="l">
              <a:lnSpc>
                <a:spcPct val="118000"/>
              </a:lnSpc>
              <a:spcBef>
                <a:spcPts val="0"/>
              </a:spcBef>
              <a:spcAft>
                <a:spcPts val="0"/>
              </a:spcAft>
            </a:pPr>
            <a:r>
              <a:rPr sz="1100" b="1" i="0" spc="160">
                <a:solidFill>
                  <a:srgbClr val="1B5EA8"/>
                </a:solidFill>
                <a:latin typeface="Calibri"/>
              </a:rPr>
              <a:t>Sustenta</a:t>
            </a:r>
          </a:p>
          <a:p>
            <a:pPr algn="l">
              <a:lnSpc>
                <a:spcPct val="105000"/>
              </a:lnSpc>
              <a:spcBef>
                <a:spcPts val="500"/>
              </a:spcBef>
              <a:spcAft>
                <a:spcPts val="0"/>
              </a:spcAft>
            </a:pPr>
            <a:r>
              <a:rPr sz="2200" b="1" i="0">
                <a:solidFill>
                  <a:srgbClr val="FFFFFF"/>
                </a:solidFill>
                <a:latin typeface="Calibri"/>
              </a:rPr>
              <a:t>Iván Alvis</a:t>
            </a:r>
          </a:p>
          <a:p>
            <a:pPr algn="l">
              <a:lnSpc>
                <a:spcPct val="118000"/>
              </a:lnSpc>
              <a:spcBef>
                <a:spcPts val="300"/>
              </a:spcBef>
              <a:spcAft>
                <a:spcPts val="0"/>
              </a:spcAft>
            </a:pPr>
            <a:r>
              <a:rPr sz="1400" b="0" i="0">
                <a:solidFill>
                  <a:srgbClr val="B9D1EC"/>
                </a:solidFill>
                <a:latin typeface="Calibri"/>
              </a:rPr>
              <a:t>Líder técnico</a:t>
            </a:r>
          </a:p>
        </p:txBody>
      </p:sp>
      <p:sp>
        <p:nvSpPr>
          <p:cNvPr id="9" name="TextBox 8"/>
          <p:cNvSpPr txBox="1"/>
          <p:nvPr/>
        </p:nvSpPr>
        <p:spPr>
          <a:xfrm>
            <a:off x="8351215" y="1700784"/>
            <a:ext cx="3154680" cy="274320"/>
          </a:xfrm>
          <a:prstGeom prst="rect">
            <a:avLst/>
          </a:prstGeom>
          <a:noFill/>
        </p:spPr>
        <p:txBody>
          <a:bodyPr wrap="square" lIns="0" rIns="0" tIns="0" bIns="0">
            <a:spAutoFit/>
          </a:bodyPr>
          <a:lstStyle/>
          <a:p>
            <a:pPr algn="l">
              <a:lnSpc>
                <a:spcPct val="118000"/>
              </a:lnSpc>
              <a:spcBef>
                <a:spcPts val="0"/>
              </a:spcBef>
              <a:spcAft>
                <a:spcPts val="0"/>
              </a:spcAft>
            </a:pPr>
            <a:r>
              <a:rPr sz="1000" b="1" i="0" spc="180">
                <a:solidFill>
                  <a:srgbClr val="1B5EA8"/>
                </a:solidFill>
                <a:latin typeface="Calibri"/>
              </a:rPr>
              <a:t>DATOS DE LA PROPUESTA</a:t>
            </a:r>
          </a:p>
        </p:txBody>
      </p:sp>
      <p:sp>
        <p:nvSpPr>
          <p:cNvPr id="10" name="TextBox 9"/>
          <p:cNvSpPr txBox="1"/>
          <p:nvPr/>
        </p:nvSpPr>
        <p:spPr>
          <a:xfrm>
            <a:off x="8351215" y="2066543"/>
            <a:ext cx="1097280" cy="237744"/>
          </a:xfrm>
          <a:prstGeom prst="rect">
            <a:avLst/>
          </a:prstGeom>
          <a:noFill/>
        </p:spPr>
        <p:txBody>
          <a:bodyPr wrap="square" lIns="0" rIns="0" tIns="0" bIns="0">
            <a:spAutoFit/>
          </a:bodyPr>
          <a:lstStyle/>
          <a:p>
            <a:pPr algn="l">
              <a:lnSpc>
                <a:spcPct val="118000"/>
              </a:lnSpc>
              <a:spcBef>
                <a:spcPts val="0"/>
              </a:spcBef>
              <a:spcAft>
                <a:spcPts val="0"/>
              </a:spcAft>
            </a:pPr>
            <a:r>
              <a:rPr sz="1050" b="0" i="0">
                <a:solidFill>
                  <a:srgbClr val="8C99A6"/>
                </a:solidFill>
                <a:latin typeface="Calibri"/>
              </a:rPr>
              <a:t>Proyecto</a:t>
            </a:r>
          </a:p>
        </p:txBody>
      </p:sp>
      <p:sp>
        <p:nvSpPr>
          <p:cNvPr id="11" name="TextBox 10"/>
          <p:cNvSpPr txBox="1"/>
          <p:nvPr/>
        </p:nvSpPr>
        <p:spPr>
          <a:xfrm>
            <a:off x="9521647" y="2066543"/>
            <a:ext cx="2011680" cy="237744"/>
          </a:xfrm>
          <a:prstGeom prst="rect">
            <a:avLst/>
          </a:prstGeom>
          <a:noFill/>
        </p:spPr>
        <p:txBody>
          <a:bodyPr wrap="square" lIns="0" rIns="0" tIns="0" bIns="0">
            <a:spAutoFit/>
          </a:bodyPr>
          <a:lstStyle/>
          <a:p>
            <a:pPr algn="l">
              <a:lnSpc>
                <a:spcPct val="118000"/>
              </a:lnSpc>
              <a:spcBef>
                <a:spcPts val="0"/>
              </a:spcBef>
              <a:spcAft>
                <a:spcPts val="0"/>
              </a:spcAft>
            </a:pPr>
            <a:r>
              <a:rPr sz="1150" b="0" i="0">
                <a:solidFill>
                  <a:srgbClr val="FFFFFF"/>
                </a:solidFill>
                <a:latin typeface="Calibri"/>
              </a:rPr>
              <a:t>Knowledge Desk</a:t>
            </a:r>
          </a:p>
        </p:txBody>
      </p:sp>
      <p:sp>
        <p:nvSpPr>
          <p:cNvPr id="12" name="TextBox 11"/>
          <p:cNvSpPr txBox="1"/>
          <p:nvPr/>
        </p:nvSpPr>
        <p:spPr>
          <a:xfrm>
            <a:off x="8351215" y="2395727"/>
            <a:ext cx="1097280" cy="237744"/>
          </a:xfrm>
          <a:prstGeom prst="rect">
            <a:avLst/>
          </a:prstGeom>
          <a:noFill/>
        </p:spPr>
        <p:txBody>
          <a:bodyPr wrap="square" lIns="0" rIns="0" tIns="0" bIns="0">
            <a:spAutoFit/>
          </a:bodyPr>
          <a:lstStyle/>
          <a:p>
            <a:pPr algn="l">
              <a:lnSpc>
                <a:spcPct val="118000"/>
              </a:lnSpc>
              <a:spcBef>
                <a:spcPts val="0"/>
              </a:spcBef>
              <a:spcAft>
                <a:spcPts val="0"/>
              </a:spcAft>
            </a:pPr>
            <a:r>
              <a:rPr sz="1050" b="0" i="0">
                <a:solidFill>
                  <a:srgbClr val="8C99A6"/>
                </a:solidFill>
                <a:latin typeface="Calibri"/>
              </a:rPr>
              <a:t>Código</a:t>
            </a:r>
          </a:p>
        </p:txBody>
      </p:sp>
      <p:sp>
        <p:nvSpPr>
          <p:cNvPr id="13" name="TextBox 12"/>
          <p:cNvSpPr txBox="1"/>
          <p:nvPr/>
        </p:nvSpPr>
        <p:spPr>
          <a:xfrm>
            <a:off x="9521647" y="2395727"/>
            <a:ext cx="2011680" cy="237744"/>
          </a:xfrm>
          <a:prstGeom prst="rect">
            <a:avLst/>
          </a:prstGeom>
          <a:noFill/>
        </p:spPr>
        <p:txBody>
          <a:bodyPr wrap="square" lIns="0" rIns="0" tIns="0" bIns="0">
            <a:spAutoFit/>
          </a:bodyPr>
          <a:lstStyle/>
          <a:p>
            <a:pPr algn="l">
              <a:lnSpc>
                <a:spcPct val="118000"/>
              </a:lnSpc>
              <a:spcBef>
                <a:spcPts val="0"/>
              </a:spcBef>
              <a:spcAft>
                <a:spcPts val="0"/>
              </a:spcAft>
            </a:pPr>
            <a:r>
              <a:rPr sz="1150" b="0" i="0">
                <a:solidFill>
                  <a:srgbClr val="FFFFFF"/>
                </a:solidFill>
                <a:latin typeface="Calibri"/>
              </a:rPr>
              <a:t>KD12</a:t>
            </a:r>
          </a:p>
        </p:txBody>
      </p:sp>
      <p:sp>
        <p:nvSpPr>
          <p:cNvPr id="14" name="TextBox 13"/>
          <p:cNvSpPr txBox="1"/>
          <p:nvPr/>
        </p:nvSpPr>
        <p:spPr>
          <a:xfrm>
            <a:off x="8351215" y="2724911"/>
            <a:ext cx="1097280" cy="237744"/>
          </a:xfrm>
          <a:prstGeom prst="rect">
            <a:avLst/>
          </a:prstGeom>
          <a:noFill/>
        </p:spPr>
        <p:txBody>
          <a:bodyPr wrap="square" lIns="0" rIns="0" tIns="0" bIns="0">
            <a:spAutoFit/>
          </a:bodyPr>
          <a:lstStyle/>
          <a:p>
            <a:pPr algn="l">
              <a:lnSpc>
                <a:spcPct val="118000"/>
              </a:lnSpc>
              <a:spcBef>
                <a:spcPts val="0"/>
              </a:spcBef>
              <a:spcAft>
                <a:spcPts val="0"/>
              </a:spcAft>
            </a:pPr>
            <a:r>
              <a:rPr sz="1050" b="0" i="0">
                <a:solidFill>
                  <a:srgbClr val="8C99A6"/>
                </a:solidFill>
                <a:latin typeface="Calibri"/>
              </a:rPr>
              <a:t>Cliente</a:t>
            </a:r>
          </a:p>
        </p:txBody>
      </p:sp>
      <p:sp>
        <p:nvSpPr>
          <p:cNvPr id="15" name="TextBox 14"/>
          <p:cNvSpPr txBox="1"/>
          <p:nvPr/>
        </p:nvSpPr>
        <p:spPr>
          <a:xfrm>
            <a:off x="9521647" y="2724911"/>
            <a:ext cx="2011680" cy="237744"/>
          </a:xfrm>
          <a:prstGeom prst="rect">
            <a:avLst/>
          </a:prstGeom>
          <a:noFill/>
        </p:spPr>
        <p:txBody>
          <a:bodyPr wrap="square" lIns="0" rIns="0" tIns="0" bIns="0">
            <a:spAutoFit/>
          </a:bodyPr>
          <a:lstStyle/>
          <a:p>
            <a:pPr algn="l">
              <a:lnSpc>
                <a:spcPct val="118000"/>
              </a:lnSpc>
              <a:spcBef>
                <a:spcPts val="0"/>
              </a:spcBef>
              <a:spcAft>
                <a:spcPts val="0"/>
              </a:spcAft>
            </a:pPr>
            <a:r>
              <a:rPr sz="1150" b="0" i="0">
                <a:solidFill>
                  <a:srgbClr val="FFFFFF"/>
                </a:solidFill>
                <a:latin typeface="Calibri"/>
              </a:rPr>
              <a:t>TDEA</a:t>
            </a:r>
          </a:p>
        </p:txBody>
      </p:sp>
      <p:sp>
        <p:nvSpPr>
          <p:cNvPr id="16" name="TextBox 15"/>
          <p:cNvSpPr txBox="1"/>
          <p:nvPr/>
        </p:nvSpPr>
        <p:spPr>
          <a:xfrm>
            <a:off x="8351215" y="3054095"/>
            <a:ext cx="1097280" cy="237744"/>
          </a:xfrm>
          <a:prstGeom prst="rect">
            <a:avLst/>
          </a:prstGeom>
          <a:noFill/>
        </p:spPr>
        <p:txBody>
          <a:bodyPr wrap="square" lIns="0" rIns="0" tIns="0" bIns="0">
            <a:spAutoFit/>
          </a:bodyPr>
          <a:lstStyle/>
          <a:p>
            <a:pPr algn="l">
              <a:lnSpc>
                <a:spcPct val="118000"/>
              </a:lnSpc>
              <a:spcBef>
                <a:spcPts val="0"/>
              </a:spcBef>
              <a:spcAft>
                <a:spcPts val="0"/>
              </a:spcAft>
            </a:pPr>
            <a:r>
              <a:rPr sz="1050" b="0" i="0">
                <a:solidFill>
                  <a:srgbClr val="8C99A6"/>
                </a:solidFill>
                <a:latin typeface="Calibri"/>
              </a:rPr>
              <a:t>Solicitante</a:t>
            </a:r>
          </a:p>
        </p:txBody>
      </p:sp>
      <p:sp>
        <p:nvSpPr>
          <p:cNvPr id="17" name="TextBox 16"/>
          <p:cNvSpPr txBox="1"/>
          <p:nvPr/>
        </p:nvSpPr>
        <p:spPr>
          <a:xfrm>
            <a:off x="9521647" y="3054095"/>
            <a:ext cx="2011680" cy="237744"/>
          </a:xfrm>
          <a:prstGeom prst="rect">
            <a:avLst/>
          </a:prstGeom>
          <a:noFill/>
        </p:spPr>
        <p:txBody>
          <a:bodyPr wrap="square" lIns="0" rIns="0" tIns="0" bIns="0">
            <a:spAutoFit/>
          </a:bodyPr>
          <a:lstStyle/>
          <a:p>
            <a:pPr algn="l">
              <a:lnSpc>
                <a:spcPct val="118000"/>
              </a:lnSpc>
              <a:spcBef>
                <a:spcPts val="0"/>
              </a:spcBef>
              <a:spcAft>
                <a:spcPts val="0"/>
              </a:spcAft>
            </a:pPr>
            <a:r>
              <a:rPr sz="1150" b="0" i="0">
                <a:solidFill>
                  <a:srgbClr val="FFFFFF"/>
                </a:solidFill>
                <a:latin typeface="Calibri"/>
              </a:rPr>
              <a:t>Henrry Gill Agudelo</a:t>
            </a:r>
          </a:p>
        </p:txBody>
      </p:sp>
      <p:sp>
        <p:nvSpPr>
          <p:cNvPr id="18" name="TextBox 17"/>
          <p:cNvSpPr txBox="1"/>
          <p:nvPr/>
        </p:nvSpPr>
        <p:spPr>
          <a:xfrm>
            <a:off x="8351215" y="3383279"/>
            <a:ext cx="1097280" cy="237744"/>
          </a:xfrm>
          <a:prstGeom prst="rect">
            <a:avLst/>
          </a:prstGeom>
          <a:noFill/>
        </p:spPr>
        <p:txBody>
          <a:bodyPr wrap="square" lIns="0" rIns="0" tIns="0" bIns="0">
            <a:spAutoFit/>
          </a:bodyPr>
          <a:lstStyle/>
          <a:p>
            <a:pPr algn="l">
              <a:lnSpc>
                <a:spcPct val="118000"/>
              </a:lnSpc>
              <a:spcBef>
                <a:spcPts val="0"/>
              </a:spcBef>
              <a:spcAft>
                <a:spcPts val="0"/>
              </a:spcAft>
            </a:pPr>
            <a:r>
              <a:rPr sz="1050" b="0" i="0">
                <a:solidFill>
                  <a:srgbClr val="8C99A6"/>
                </a:solidFill>
                <a:latin typeface="Calibri"/>
              </a:rPr>
              <a:t>Fecha</a:t>
            </a:r>
          </a:p>
        </p:txBody>
      </p:sp>
      <p:sp>
        <p:nvSpPr>
          <p:cNvPr id="19" name="TextBox 18"/>
          <p:cNvSpPr txBox="1"/>
          <p:nvPr/>
        </p:nvSpPr>
        <p:spPr>
          <a:xfrm>
            <a:off x="9521647" y="3383279"/>
            <a:ext cx="2011680" cy="237744"/>
          </a:xfrm>
          <a:prstGeom prst="rect">
            <a:avLst/>
          </a:prstGeom>
          <a:noFill/>
        </p:spPr>
        <p:txBody>
          <a:bodyPr wrap="square" lIns="0" rIns="0" tIns="0" bIns="0">
            <a:spAutoFit/>
          </a:bodyPr>
          <a:lstStyle/>
          <a:p>
            <a:pPr algn="l">
              <a:lnSpc>
                <a:spcPct val="118000"/>
              </a:lnSpc>
              <a:spcBef>
                <a:spcPts val="0"/>
              </a:spcBef>
              <a:spcAft>
                <a:spcPts val="0"/>
              </a:spcAft>
            </a:pPr>
            <a:r>
              <a:rPr sz="1150" b="0" i="0">
                <a:solidFill>
                  <a:srgbClr val="FFFFFF"/>
                </a:solidFill>
                <a:latin typeface="Calibri"/>
              </a:rPr>
              <a:t>31 de agosto de 2026</a:t>
            </a:r>
          </a:p>
        </p:txBody>
      </p:sp>
      <p:sp>
        <p:nvSpPr>
          <p:cNvPr id="20" name="Rectangle 19"/>
          <p:cNvSpPr/>
          <p:nvPr/>
        </p:nvSpPr>
        <p:spPr>
          <a:xfrm>
            <a:off x="8351215" y="3913632"/>
            <a:ext cx="1005840" cy="32004"/>
          </a:xfrm>
          <a:prstGeom prst="rect">
            <a:avLst/>
          </a:prstGeom>
          <a:solidFill>
            <a:srgbClr val="1B5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21" name="TextBox 20"/>
          <p:cNvSpPr txBox="1"/>
          <p:nvPr/>
        </p:nvSpPr>
        <p:spPr>
          <a:xfrm>
            <a:off x="8351215" y="4187952"/>
            <a:ext cx="3154680" cy="274320"/>
          </a:xfrm>
          <a:prstGeom prst="rect">
            <a:avLst/>
          </a:prstGeom>
          <a:noFill/>
        </p:spPr>
        <p:txBody>
          <a:bodyPr wrap="square" lIns="0" rIns="0" tIns="0" bIns="0">
            <a:spAutoFit/>
          </a:bodyPr>
          <a:lstStyle/>
          <a:p>
            <a:pPr algn="l">
              <a:lnSpc>
                <a:spcPct val="118000"/>
              </a:lnSpc>
              <a:spcBef>
                <a:spcPts val="0"/>
              </a:spcBef>
              <a:spcAft>
                <a:spcPts val="0"/>
              </a:spcAft>
            </a:pPr>
            <a:r>
              <a:rPr sz="1000" b="1" i="0" spc="180">
                <a:solidFill>
                  <a:srgbClr val="1B5EA8"/>
                </a:solidFill>
                <a:latin typeface="Calibri"/>
              </a:rPr>
              <a:t>CONTENIDO</a:t>
            </a:r>
          </a:p>
        </p:txBody>
      </p:sp>
      <p:sp>
        <p:nvSpPr>
          <p:cNvPr id="22" name="TextBox 21"/>
          <p:cNvSpPr txBox="1"/>
          <p:nvPr/>
        </p:nvSpPr>
        <p:spPr>
          <a:xfrm>
            <a:off x="8351215" y="4517136"/>
            <a:ext cx="384048" cy="256032"/>
          </a:xfrm>
          <a:prstGeom prst="rect">
            <a:avLst/>
          </a:prstGeom>
          <a:noFill/>
        </p:spPr>
        <p:txBody>
          <a:bodyPr wrap="square" lIns="0" rIns="0" tIns="0" bIns="0">
            <a:spAutoFit/>
          </a:bodyPr>
          <a:lstStyle/>
          <a:p>
            <a:pPr algn="l">
              <a:lnSpc>
                <a:spcPct val="118000"/>
              </a:lnSpc>
              <a:spcBef>
                <a:spcPts val="0"/>
              </a:spcBef>
              <a:spcAft>
                <a:spcPts val="0"/>
              </a:spcAft>
            </a:pPr>
            <a:r>
              <a:rPr sz="1100" b="1" i="0">
                <a:solidFill>
                  <a:srgbClr val="1B5EA8"/>
                </a:solidFill>
                <a:latin typeface="Calibri"/>
              </a:rPr>
              <a:t>01</a:t>
            </a:r>
          </a:p>
        </p:txBody>
      </p:sp>
      <p:sp>
        <p:nvSpPr>
          <p:cNvPr id="23" name="TextBox 22"/>
          <p:cNvSpPr txBox="1"/>
          <p:nvPr/>
        </p:nvSpPr>
        <p:spPr>
          <a:xfrm>
            <a:off x="8790127" y="4517136"/>
            <a:ext cx="2697480" cy="256032"/>
          </a:xfrm>
          <a:prstGeom prst="rect">
            <a:avLst/>
          </a:prstGeom>
          <a:noFill/>
        </p:spPr>
        <p:txBody>
          <a:bodyPr wrap="square" lIns="0" rIns="0" tIns="0" bIns="0">
            <a:spAutoFit/>
          </a:bodyPr>
          <a:lstStyle/>
          <a:p>
            <a:pPr algn="l">
              <a:lnSpc>
                <a:spcPct val="118000"/>
              </a:lnSpc>
              <a:spcBef>
                <a:spcPts val="0"/>
              </a:spcBef>
              <a:spcAft>
                <a:spcPts val="0"/>
              </a:spcAft>
            </a:pPr>
            <a:r>
              <a:rPr sz="1200" b="0" i="0">
                <a:solidFill>
                  <a:srgbClr val="FFFFFF"/>
                </a:solidFill>
                <a:latin typeface="Calibri"/>
              </a:rPr>
              <a:t>Equipo de trabajo</a:t>
            </a:r>
          </a:p>
        </p:txBody>
      </p:sp>
      <p:sp>
        <p:nvSpPr>
          <p:cNvPr id="24" name="TextBox 23"/>
          <p:cNvSpPr txBox="1"/>
          <p:nvPr/>
        </p:nvSpPr>
        <p:spPr>
          <a:xfrm>
            <a:off x="8351215" y="4846320"/>
            <a:ext cx="384048" cy="256032"/>
          </a:xfrm>
          <a:prstGeom prst="rect">
            <a:avLst/>
          </a:prstGeom>
          <a:noFill/>
        </p:spPr>
        <p:txBody>
          <a:bodyPr wrap="square" lIns="0" rIns="0" tIns="0" bIns="0">
            <a:spAutoFit/>
          </a:bodyPr>
          <a:lstStyle/>
          <a:p>
            <a:pPr algn="l">
              <a:lnSpc>
                <a:spcPct val="118000"/>
              </a:lnSpc>
              <a:spcBef>
                <a:spcPts val="0"/>
              </a:spcBef>
              <a:spcAft>
                <a:spcPts val="0"/>
              </a:spcAft>
            </a:pPr>
            <a:r>
              <a:rPr sz="1100" b="1" i="0">
                <a:solidFill>
                  <a:srgbClr val="1B5EA8"/>
                </a:solidFill>
                <a:latin typeface="Calibri"/>
              </a:rPr>
              <a:t>02</a:t>
            </a:r>
          </a:p>
        </p:txBody>
      </p:sp>
      <p:sp>
        <p:nvSpPr>
          <p:cNvPr id="25" name="TextBox 24"/>
          <p:cNvSpPr txBox="1"/>
          <p:nvPr/>
        </p:nvSpPr>
        <p:spPr>
          <a:xfrm>
            <a:off x="8790127" y="4846320"/>
            <a:ext cx="2697480" cy="256032"/>
          </a:xfrm>
          <a:prstGeom prst="rect">
            <a:avLst/>
          </a:prstGeom>
          <a:noFill/>
        </p:spPr>
        <p:txBody>
          <a:bodyPr wrap="square" lIns="0" rIns="0" tIns="0" bIns="0">
            <a:spAutoFit/>
          </a:bodyPr>
          <a:lstStyle/>
          <a:p>
            <a:pPr algn="l">
              <a:lnSpc>
                <a:spcPct val="118000"/>
              </a:lnSpc>
              <a:spcBef>
                <a:spcPts val="0"/>
              </a:spcBef>
              <a:spcAft>
                <a:spcPts val="0"/>
              </a:spcAft>
            </a:pPr>
            <a:r>
              <a:rPr sz="1200" b="0" i="0">
                <a:solidFill>
                  <a:srgbClr val="FFFFFF"/>
                </a:solidFill>
                <a:latin typeface="Calibri"/>
              </a:rPr>
              <a:t>Propuesta, resumen y cronograma</a:t>
            </a:r>
          </a:p>
        </p:txBody>
      </p:sp>
      <p:sp>
        <p:nvSpPr>
          <p:cNvPr id="26" name="TextBox 25"/>
          <p:cNvSpPr txBox="1"/>
          <p:nvPr/>
        </p:nvSpPr>
        <p:spPr>
          <a:xfrm>
            <a:off x="8351215" y="5175504"/>
            <a:ext cx="384048" cy="256032"/>
          </a:xfrm>
          <a:prstGeom prst="rect">
            <a:avLst/>
          </a:prstGeom>
          <a:noFill/>
        </p:spPr>
        <p:txBody>
          <a:bodyPr wrap="square" lIns="0" rIns="0" tIns="0" bIns="0">
            <a:spAutoFit/>
          </a:bodyPr>
          <a:lstStyle/>
          <a:p>
            <a:pPr algn="l">
              <a:lnSpc>
                <a:spcPct val="118000"/>
              </a:lnSpc>
              <a:spcBef>
                <a:spcPts val="0"/>
              </a:spcBef>
              <a:spcAft>
                <a:spcPts val="0"/>
              </a:spcAft>
            </a:pPr>
            <a:r>
              <a:rPr sz="1100" b="1" i="0">
                <a:solidFill>
                  <a:srgbClr val="1B5EA8"/>
                </a:solidFill>
                <a:latin typeface="Calibri"/>
              </a:rPr>
              <a:t>03</a:t>
            </a:r>
          </a:p>
        </p:txBody>
      </p:sp>
      <p:sp>
        <p:nvSpPr>
          <p:cNvPr id="27" name="TextBox 26"/>
          <p:cNvSpPr txBox="1"/>
          <p:nvPr/>
        </p:nvSpPr>
        <p:spPr>
          <a:xfrm>
            <a:off x="8790127" y="5175504"/>
            <a:ext cx="2697480" cy="256032"/>
          </a:xfrm>
          <a:prstGeom prst="rect">
            <a:avLst/>
          </a:prstGeom>
          <a:noFill/>
        </p:spPr>
        <p:txBody>
          <a:bodyPr wrap="square" lIns="0" rIns="0" tIns="0" bIns="0">
            <a:spAutoFit/>
          </a:bodyPr>
          <a:lstStyle/>
          <a:p>
            <a:pPr algn="l">
              <a:lnSpc>
                <a:spcPct val="118000"/>
              </a:lnSpc>
              <a:spcBef>
                <a:spcPts val="0"/>
              </a:spcBef>
              <a:spcAft>
                <a:spcPts val="0"/>
              </a:spcAft>
            </a:pPr>
            <a:r>
              <a:rPr sz="1200" b="0" i="0">
                <a:solidFill>
                  <a:srgbClr val="FFFFFF"/>
                </a:solidFill>
                <a:latin typeface="Calibri"/>
              </a:rPr>
              <a:t>Alcance</a:t>
            </a:r>
          </a:p>
        </p:txBody>
      </p:sp>
      <p:sp>
        <p:nvSpPr>
          <p:cNvPr id="28" name="TextBox 27"/>
          <p:cNvSpPr txBox="1"/>
          <p:nvPr/>
        </p:nvSpPr>
        <p:spPr>
          <a:xfrm>
            <a:off x="8351215" y="5504688"/>
            <a:ext cx="384048" cy="256032"/>
          </a:xfrm>
          <a:prstGeom prst="rect">
            <a:avLst/>
          </a:prstGeom>
          <a:noFill/>
        </p:spPr>
        <p:txBody>
          <a:bodyPr wrap="square" lIns="0" rIns="0" tIns="0" bIns="0">
            <a:spAutoFit/>
          </a:bodyPr>
          <a:lstStyle/>
          <a:p>
            <a:pPr algn="l">
              <a:lnSpc>
                <a:spcPct val="118000"/>
              </a:lnSpc>
              <a:spcBef>
                <a:spcPts val="0"/>
              </a:spcBef>
              <a:spcAft>
                <a:spcPts val="0"/>
              </a:spcAft>
            </a:pPr>
            <a:r>
              <a:rPr sz="1100" b="1" i="0">
                <a:solidFill>
                  <a:srgbClr val="1B5EA8"/>
                </a:solidFill>
                <a:latin typeface="Calibri"/>
              </a:rPr>
              <a:t>04</a:t>
            </a:r>
          </a:p>
        </p:txBody>
      </p:sp>
      <p:sp>
        <p:nvSpPr>
          <p:cNvPr id="29" name="TextBox 28"/>
          <p:cNvSpPr txBox="1"/>
          <p:nvPr/>
        </p:nvSpPr>
        <p:spPr>
          <a:xfrm>
            <a:off x="8790127" y="5504688"/>
            <a:ext cx="2697480" cy="256032"/>
          </a:xfrm>
          <a:prstGeom prst="rect">
            <a:avLst/>
          </a:prstGeom>
          <a:noFill/>
        </p:spPr>
        <p:txBody>
          <a:bodyPr wrap="square" lIns="0" rIns="0" tIns="0" bIns="0">
            <a:spAutoFit/>
          </a:bodyPr>
          <a:lstStyle/>
          <a:p>
            <a:pPr algn="l">
              <a:lnSpc>
                <a:spcPct val="118000"/>
              </a:lnSpc>
              <a:spcBef>
                <a:spcPts val="0"/>
              </a:spcBef>
              <a:spcAft>
                <a:spcPts val="0"/>
              </a:spcAft>
            </a:pPr>
            <a:r>
              <a:rPr sz="1200" b="0" i="0">
                <a:solidFill>
                  <a:srgbClr val="FFFFFF"/>
                </a:solidFill>
                <a:latin typeface="Calibri"/>
              </a:rPr>
              <a:t>Arquitectura</a:t>
            </a:r>
          </a:p>
        </p:txBody>
      </p:sp>
      <p:sp>
        <p:nvSpPr>
          <p:cNvPr id="30" name="TextBox 29"/>
          <p:cNvSpPr txBox="1"/>
          <p:nvPr/>
        </p:nvSpPr>
        <p:spPr>
          <a:xfrm>
            <a:off x="8351215" y="5833872"/>
            <a:ext cx="384048" cy="256032"/>
          </a:xfrm>
          <a:prstGeom prst="rect">
            <a:avLst/>
          </a:prstGeom>
          <a:noFill/>
        </p:spPr>
        <p:txBody>
          <a:bodyPr wrap="square" lIns="0" rIns="0" tIns="0" bIns="0">
            <a:spAutoFit/>
          </a:bodyPr>
          <a:lstStyle/>
          <a:p>
            <a:pPr algn="l">
              <a:lnSpc>
                <a:spcPct val="118000"/>
              </a:lnSpc>
              <a:spcBef>
                <a:spcPts val="0"/>
              </a:spcBef>
              <a:spcAft>
                <a:spcPts val="0"/>
              </a:spcAft>
            </a:pPr>
            <a:r>
              <a:rPr sz="1100" b="1" i="0">
                <a:solidFill>
                  <a:srgbClr val="1B5EA8"/>
                </a:solidFill>
                <a:latin typeface="Calibri"/>
              </a:rPr>
              <a:t>05</a:t>
            </a:r>
          </a:p>
        </p:txBody>
      </p:sp>
      <p:sp>
        <p:nvSpPr>
          <p:cNvPr id="31" name="TextBox 30"/>
          <p:cNvSpPr txBox="1"/>
          <p:nvPr/>
        </p:nvSpPr>
        <p:spPr>
          <a:xfrm>
            <a:off x="8790127" y="5833872"/>
            <a:ext cx="2697480" cy="256032"/>
          </a:xfrm>
          <a:prstGeom prst="rect">
            <a:avLst/>
          </a:prstGeom>
          <a:noFill/>
        </p:spPr>
        <p:txBody>
          <a:bodyPr wrap="square" lIns="0" rIns="0" tIns="0" bIns="0">
            <a:spAutoFit/>
          </a:bodyPr>
          <a:lstStyle/>
          <a:p>
            <a:pPr algn="l">
              <a:lnSpc>
                <a:spcPct val="118000"/>
              </a:lnSpc>
              <a:spcBef>
                <a:spcPts val="0"/>
              </a:spcBef>
              <a:spcAft>
                <a:spcPts val="0"/>
              </a:spcAft>
            </a:pPr>
            <a:r>
              <a:rPr sz="1200" b="0" i="0">
                <a:solidFill>
                  <a:srgbClr val="FFFFFF"/>
                </a:solidFill>
                <a:latin typeface="Calibri"/>
              </a:rPr>
              <a:t>Supuestos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37744" cy="6858000"/>
          </a:xfrm>
          <a:prstGeom prst="rect">
            <a:avLst/>
          </a:prstGeom>
          <a:solidFill>
            <a:srgbClr val="1331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3" name="TextBox 2"/>
          <p:cNvSpPr txBox="1"/>
          <p:nvPr/>
        </p:nvSpPr>
        <p:spPr>
          <a:xfrm>
            <a:off x="713232" y="475488"/>
            <a:ext cx="10765231" cy="292608"/>
          </a:xfrm>
          <a:prstGeom prst="rect">
            <a:avLst/>
          </a:prstGeom>
          <a:noFill/>
        </p:spPr>
        <p:txBody>
          <a:bodyPr wrap="square" lIns="0" rIns="0" tIns="0" bIns="0">
            <a:spAutoFit/>
          </a:bodyPr>
          <a:lstStyle/>
          <a:p>
            <a:pPr algn="l">
              <a:lnSpc>
                <a:spcPct val="118000"/>
              </a:lnSpc>
              <a:spcBef>
                <a:spcPts val="0"/>
              </a:spcBef>
              <a:spcAft>
                <a:spcPts val="0"/>
              </a:spcAft>
            </a:pPr>
            <a:r>
              <a:rPr sz="1050" b="1" i="0" spc="160">
                <a:solidFill>
                  <a:srgbClr val="1B5EA8"/>
                </a:solidFill>
                <a:latin typeface="Calibri"/>
              </a:rPr>
              <a:t>01 EQUIPO DE TRABAJO</a:t>
            </a:r>
          </a:p>
        </p:txBody>
      </p:sp>
      <p:sp>
        <p:nvSpPr>
          <p:cNvPr id="4" name="TextBox 3"/>
          <p:cNvSpPr txBox="1"/>
          <p:nvPr/>
        </p:nvSpPr>
        <p:spPr>
          <a:xfrm>
            <a:off x="713232" y="804672"/>
            <a:ext cx="10765231" cy="566928"/>
          </a:xfrm>
          <a:prstGeom prst="rect">
            <a:avLst/>
          </a:prstGeom>
          <a:noFill/>
        </p:spPr>
        <p:txBody>
          <a:bodyPr wrap="square" lIns="0" rIns="0" tIns="0" bIns="0">
            <a:spAutoFit/>
          </a:bodyPr>
          <a:lstStyle/>
          <a:p>
            <a:pPr algn="l">
              <a:lnSpc>
                <a:spcPct val="102000"/>
              </a:lnSpc>
              <a:spcBef>
                <a:spcPts val="0"/>
              </a:spcBef>
              <a:spcAft>
                <a:spcPts val="0"/>
              </a:spcAft>
            </a:pPr>
            <a:r>
              <a:rPr sz="2900" b="1" i="0">
                <a:solidFill>
                  <a:srgbClr val="0F2438"/>
                </a:solidFill>
                <a:latin typeface="Calibri"/>
              </a:rPr>
              <a:t>Quién hace qué</a:t>
            </a:r>
          </a:p>
        </p:txBody>
      </p:sp>
      <p:sp>
        <p:nvSpPr>
          <p:cNvPr id="5" name="Rectangle 4"/>
          <p:cNvSpPr/>
          <p:nvPr/>
        </p:nvSpPr>
        <p:spPr>
          <a:xfrm>
            <a:off x="713232" y="1481328"/>
            <a:ext cx="1325880" cy="41148"/>
          </a:xfrm>
          <a:prstGeom prst="rect">
            <a:avLst/>
          </a:prstGeom>
          <a:solidFill>
            <a:srgbClr val="1B5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6" name="TextBox 5"/>
          <p:cNvSpPr txBox="1"/>
          <p:nvPr/>
        </p:nvSpPr>
        <p:spPr>
          <a:xfrm>
            <a:off x="713232" y="1627632"/>
            <a:ext cx="9258098" cy="384048"/>
          </a:xfrm>
          <a:prstGeom prst="rect">
            <a:avLst/>
          </a:prstGeom>
          <a:noFill/>
        </p:spPr>
        <p:txBody>
          <a:bodyPr wrap="square" lIns="0" rIns="0" tIns="0" bIns="0">
            <a:spAutoFit/>
          </a:bodyPr>
          <a:lstStyle/>
          <a:p>
            <a:pPr algn="l">
              <a:lnSpc>
                <a:spcPct val="122000"/>
              </a:lnSpc>
              <a:spcBef>
                <a:spcPts val="0"/>
              </a:spcBef>
              <a:spcAft>
                <a:spcPts val="0"/>
              </a:spcAft>
            </a:pPr>
            <a:r>
              <a:rPr sz="1350" b="0" i="0">
                <a:solidFill>
                  <a:srgbClr val="5A6774"/>
                </a:solidFill>
                <a:latin typeface="Calibri"/>
              </a:rPr>
              <a:t>Cuatro personas y todas construyen producto. Hay un solo líder, que además de su trabajo técnico responde por el proyecto ante el cliente y el docente.</a:t>
            </a:r>
          </a:p>
        </p:txBody>
      </p:sp>
      <p:sp>
        <p:nvSpPr>
          <p:cNvPr id="7" name="TextBox 6"/>
          <p:cNvSpPr txBox="1"/>
          <p:nvPr/>
        </p:nvSpPr>
        <p:spPr>
          <a:xfrm>
            <a:off x="713232" y="6382512"/>
            <a:ext cx="7535661" cy="219456"/>
          </a:xfrm>
          <a:prstGeom prst="rect">
            <a:avLst/>
          </a:prstGeom>
          <a:noFill/>
        </p:spPr>
        <p:txBody>
          <a:bodyPr wrap="square" lIns="0" rIns="0" tIns="0" bIns="0">
            <a:spAutoFit/>
          </a:bodyPr>
          <a:lstStyle/>
          <a:p>
            <a:pPr algn="l">
              <a:lnSpc>
                <a:spcPct val="118000"/>
              </a:lnSpc>
              <a:spcBef>
                <a:spcPts val="0"/>
              </a:spcBef>
              <a:spcAft>
                <a:spcPts val="0"/>
              </a:spcAft>
            </a:pPr>
            <a:r>
              <a:rPr sz="900" b="0" i="0">
                <a:solidFill>
                  <a:srgbClr val="8C99A6"/>
                </a:solidFill>
                <a:latin typeface="Calibri"/>
              </a:rPr>
              <a:t>Knowledge Desk   |   Propuesta comercial 001   |   KD12</a:t>
            </a:r>
          </a:p>
        </p:txBody>
      </p:sp>
      <p:sp>
        <p:nvSpPr>
          <p:cNvPr id="8" name="TextBox 7"/>
          <p:cNvSpPr txBox="1"/>
          <p:nvPr/>
        </p:nvSpPr>
        <p:spPr>
          <a:xfrm>
            <a:off x="10381183" y="6382512"/>
            <a:ext cx="1097280" cy="219456"/>
          </a:xfrm>
          <a:prstGeom prst="rect">
            <a:avLst/>
          </a:prstGeom>
          <a:noFill/>
        </p:spPr>
        <p:txBody>
          <a:bodyPr wrap="square" lIns="0" rIns="0" tIns="0" bIns="0">
            <a:spAutoFit/>
          </a:bodyPr>
          <a:lstStyle/>
          <a:p>
            <a:pPr algn="r">
              <a:lnSpc>
                <a:spcPct val="118000"/>
              </a:lnSpc>
              <a:spcBef>
                <a:spcPts val="0"/>
              </a:spcBef>
              <a:spcAft>
                <a:spcPts val="0"/>
              </a:spcAft>
            </a:pPr>
            <a:r>
              <a:rPr sz="900" b="0" i="0">
                <a:solidFill>
                  <a:srgbClr val="8C99A6"/>
                </a:solidFill>
                <a:latin typeface="Calibri"/>
              </a:rPr>
              <a:t>2</a:t>
            </a:r>
          </a:p>
        </p:txBody>
      </p:sp>
      <p:sp>
        <p:nvSpPr>
          <p:cNvPr id="9" name="Rectangle 8"/>
          <p:cNvSpPr/>
          <p:nvPr/>
        </p:nvSpPr>
        <p:spPr>
          <a:xfrm>
            <a:off x="713232" y="2322576"/>
            <a:ext cx="2526715" cy="2615184"/>
          </a:xfrm>
          <a:prstGeom prst="rect">
            <a:avLst/>
          </a:prstGeom>
          <a:solidFill>
            <a:srgbClr val="E7EF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164592" tIns="256032" bIns="73152"/>
          <a:lstStyle/>
          <a:p>
            <a:pPr algn="l">
              <a:lnSpc>
                <a:spcPct val="118000"/>
              </a:lnSpc>
              <a:spcBef>
                <a:spcPts val="0"/>
              </a:spcBef>
              <a:spcAft>
                <a:spcPts val="0"/>
              </a:spcAft>
            </a:pPr>
            <a:r>
              <a:rPr sz="1000" b="1" i="0" spc="120">
                <a:solidFill>
                  <a:srgbClr val="1B5EA8"/>
                </a:solidFill>
                <a:latin typeface="Calibri"/>
              </a:rPr>
              <a:t>LÍDER TÉCNICO</a:t>
            </a:r>
          </a:p>
          <a:p>
            <a:pPr algn="l">
              <a:lnSpc>
                <a:spcPct val="105000"/>
              </a:lnSpc>
              <a:spcBef>
                <a:spcPts val="800"/>
              </a:spcBef>
              <a:spcAft>
                <a:spcPts val="0"/>
              </a:spcAft>
            </a:pPr>
            <a:r>
              <a:rPr sz="1750" b="1" i="0">
                <a:solidFill>
                  <a:srgbClr val="0F2438"/>
                </a:solidFill>
                <a:latin typeface="Calibri"/>
              </a:rPr>
              <a:t>Iván Alvis</a:t>
            </a:r>
          </a:p>
          <a:p>
            <a:pPr algn="l">
              <a:lnSpc>
                <a:spcPct val="128000"/>
              </a:lnSpc>
              <a:spcBef>
                <a:spcPts val="1000"/>
              </a:spcBef>
              <a:spcAft>
                <a:spcPts val="0"/>
              </a:spcAft>
            </a:pPr>
            <a:r>
              <a:rPr sz="1150" b="0" i="0">
                <a:solidFill>
                  <a:srgbClr val="5A6774"/>
                </a:solidFill>
                <a:latin typeface="Calibri"/>
              </a:rPr>
              <a:t>Define la arquitectura y responde por la lógica de recuperación, que es la pieza de la que depende la calidad de las respuestas.</a:t>
            </a:r>
          </a:p>
        </p:txBody>
      </p:sp>
      <p:sp>
        <p:nvSpPr>
          <p:cNvPr id="10" name="Rectangle 9"/>
          <p:cNvSpPr/>
          <p:nvPr/>
        </p:nvSpPr>
        <p:spPr>
          <a:xfrm>
            <a:off x="713232" y="2322576"/>
            <a:ext cx="2526715" cy="50292"/>
          </a:xfrm>
          <a:prstGeom prst="rect">
            <a:avLst/>
          </a:prstGeom>
          <a:solidFill>
            <a:srgbClr val="1B5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11" name="Rectangle 10"/>
          <p:cNvSpPr/>
          <p:nvPr/>
        </p:nvSpPr>
        <p:spPr>
          <a:xfrm>
            <a:off x="3459403" y="2322576"/>
            <a:ext cx="2526715" cy="2615184"/>
          </a:xfrm>
          <a:prstGeom prst="rect">
            <a:avLst/>
          </a:prstGeom>
          <a:solidFill>
            <a:srgbClr val="FFFFFF"/>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64592" tIns="256032" bIns="73152"/>
          <a:lstStyle/>
          <a:p>
            <a:pPr algn="l">
              <a:lnSpc>
                <a:spcPct val="118000"/>
              </a:lnSpc>
              <a:spcBef>
                <a:spcPts val="0"/>
              </a:spcBef>
              <a:spcAft>
                <a:spcPts val="0"/>
              </a:spcAft>
            </a:pPr>
            <a:r>
              <a:rPr sz="1000" b="1" i="0" spc="120">
                <a:solidFill>
                  <a:srgbClr val="13314B"/>
                </a:solidFill>
                <a:latin typeface="Calibri"/>
              </a:rPr>
              <a:t>ANALISTA DE DATOS Y EMBEDDINGS</a:t>
            </a:r>
          </a:p>
          <a:p>
            <a:pPr algn="l">
              <a:lnSpc>
                <a:spcPct val="105000"/>
              </a:lnSpc>
              <a:spcBef>
                <a:spcPts val="800"/>
              </a:spcBef>
              <a:spcAft>
                <a:spcPts val="0"/>
              </a:spcAft>
            </a:pPr>
            <a:r>
              <a:rPr sz="1750" b="1" i="0">
                <a:solidFill>
                  <a:srgbClr val="0F2438"/>
                </a:solidFill>
                <a:latin typeface="Calibri"/>
              </a:rPr>
              <a:t>Alejandra Valencia</a:t>
            </a:r>
          </a:p>
          <a:p>
            <a:pPr algn="l">
              <a:lnSpc>
                <a:spcPct val="128000"/>
              </a:lnSpc>
              <a:spcBef>
                <a:spcPts val="1000"/>
              </a:spcBef>
              <a:spcAft>
                <a:spcPts val="0"/>
              </a:spcAft>
            </a:pPr>
            <a:r>
              <a:rPr sz="1150" b="0" i="0">
                <a:solidFill>
                  <a:srgbClr val="5A6774"/>
                </a:solidFill>
                <a:latin typeface="Calibri"/>
              </a:rPr>
              <a:t>Estructura los procedimientos en artículos, genera los embeddings y monta la base vectorial en Pinecone.</a:t>
            </a:r>
          </a:p>
        </p:txBody>
      </p:sp>
      <p:sp>
        <p:nvSpPr>
          <p:cNvPr id="12" name="Rectangle 11"/>
          <p:cNvSpPr/>
          <p:nvPr/>
        </p:nvSpPr>
        <p:spPr>
          <a:xfrm>
            <a:off x="3459403" y="2322576"/>
            <a:ext cx="2526715" cy="50292"/>
          </a:xfrm>
          <a:prstGeom prst="rect">
            <a:avLst/>
          </a:prstGeom>
          <a:solidFill>
            <a:srgbClr val="1331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13" name="Rectangle 12"/>
          <p:cNvSpPr/>
          <p:nvPr/>
        </p:nvSpPr>
        <p:spPr>
          <a:xfrm>
            <a:off x="6205575" y="2322576"/>
            <a:ext cx="2526715" cy="2615184"/>
          </a:xfrm>
          <a:prstGeom prst="rect">
            <a:avLst/>
          </a:prstGeom>
          <a:solidFill>
            <a:srgbClr val="FFFFFF"/>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64592" tIns="256032" bIns="73152"/>
          <a:lstStyle/>
          <a:p>
            <a:pPr algn="l">
              <a:lnSpc>
                <a:spcPct val="118000"/>
              </a:lnSpc>
              <a:spcBef>
                <a:spcPts val="0"/>
              </a:spcBef>
              <a:spcAft>
                <a:spcPts val="0"/>
              </a:spcAft>
            </a:pPr>
            <a:r>
              <a:rPr sz="1000" b="1" i="0" spc="120">
                <a:solidFill>
                  <a:srgbClr val="13314B"/>
                </a:solidFill>
                <a:latin typeface="Calibri"/>
              </a:rPr>
              <a:t>DESARROLLADOR BACKEND E INTERFAZ</a:t>
            </a:r>
          </a:p>
          <a:p>
            <a:pPr algn="l">
              <a:lnSpc>
                <a:spcPct val="105000"/>
              </a:lnSpc>
              <a:spcBef>
                <a:spcPts val="800"/>
              </a:spcBef>
              <a:spcAft>
                <a:spcPts val="0"/>
              </a:spcAft>
            </a:pPr>
            <a:r>
              <a:rPr sz="1750" b="1" i="0">
                <a:solidFill>
                  <a:srgbClr val="0F2438"/>
                </a:solidFill>
                <a:latin typeface="Calibri"/>
              </a:rPr>
              <a:t>Jhonatan Vanegas</a:t>
            </a:r>
          </a:p>
          <a:p>
            <a:pPr algn="l">
              <a:lnSpc>
                <a:spcPct val="128000"/>
              </a:lnSpc>
              <a:spcBef>
                <a:spcPts val="1000"/>
              </a:spcBef>
              <a:spcAft>
                <a:spcPts val="0"/>
              </a:spcAft>
            </a:pPr>
            <a:r>
              <a:rPr sz="1150" b="0" i="0">
                <a:solidFill>
                  <a:srgbClr val="5A6774"/>
                </a:solidFill>
                <a:latin typeface="Calibri"/>
              </a:rPr>
              <a:t>Construye el servicio de consulta y la pantalla web donde se escribe la pregunta y se revisa la respuesta.</a:t>
            </a:r>
          </a:p>
        </p:txBody>
      </p:sp>
      <p:sp>
        <p:nvSpPr>
          <p:cNvPr id="14" name="Rectangle 13"/>
          <p:cNvSpPr/>
          <p:nvPr/>
        </p:nvSpPr>
        <p:spPr>
          <a:xfrm>
            <a:off x="6205575" y="2322576"/>
            <a:ext cx="2526715" cy="50292"/>
          </a:xfrm>
          <a:prstGeom prst="rect">
            <a:avLst/>
          </a:prstGeom>
          <a:solidFill>
            <a:srgbClr val="1331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15" name="Rectangle 14"/>
          <p:cNvSpPr/>
          <p:nvPr/>
        </p:nvSpPr>
        <p:spPr>
          <a:xfrm>
            <a:off x="8951747" y="2322576"/>
            <a:ext cx="2526715" cy="2615184"/>
          </a:xfrm>
          <a:prstGeom prst="rect">
            <a:avLst/>
          </a:prstGeom>
          <a:solidFill>
            <a:srgbClr val="FFFFFF"/>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64592" tIns="256032" bIns="73152"/>
          <a:lstStyle/>
          <a:p>
            <a:pPr algn="l">
              <a:lnSpc>
                <a:spcPct val="118000"/>
              </a:lnSpc>
              <a:spcBef>
                <a:spcPts val="0"/>
              </a:spcBef>
              <a:spcAft>
                <a:spcPts val="0"/>
              </a:spcAft>
            </a:pPr>
            <a:r>
              <a:rPr sz="1000" b="1" i="0" spc="120">
                <a:solidFill>
                  <a:srgbClr val="13314B"/>
                </a:solidFill>
                <a:latin typeface="Calibri"/>
              </a:rPr>
              <a:t>INGENIERO DE CALIDAD</a:t>
            </a:r>
          </a:p>
          <a:p>
            <a:pPr algn="l">
              <a:lnSpc>
                <a:spcPct val="105000"/>
              </a:lnSpc>
              <a:spcBef>
                <a:spcPts val="800"/>
              </a:spcBef>
              <a:spcAft>
                <a:spcPts val="0"/>
              </a:spcAft>
            </a:pPr>
            <a:r>
              <a:rPr sz="1750" b="1" i="0">
                <a:solidFill>
                  <a:srgbClr val="0F2438"/>
                </a:solidFill>
                <a:latin typeface="Calibri"/>
              </a:rPr>
              <a:t>Nataly Rivera</a:t>
            </a:r>
          </a:p>
          <a:p>
            <a:pPr algn="l">
              <a:lnSpc>
                <a:spcPct val="128000"/>
              </a:lnSpc>
              <a:spcBef>
                <a:spcPts val="1000"/>
              </a:spcBef>
              <a:spcAft>
                <a:spcPts val="0"/>
              </a:spcAft>
            </a:pPr>
            <a:r>
              <a:rPr sz="1150" b="0" i="0">
                <a:solidFill>
                  <a:srgbClr val="5A6774"/>
                </a:solidFill>
                <a:latin typeface="Calibri"/>
              </a:rPr>
              <a:t>Arma la batería de preguntas de evaluación, escribe las pruebas automatizadas y verifica los criterios antes de cerrar un trabajo.</a:t>
            </a:r>
          </a:p>
        </p:txBody>
      </p:sp>
      <p:sp>
        <p:nvSpPr>
          <p:cNvPr id="16" name="Rectangle 15"/>
          <p:cNvSpPr/>
          <p:nvPr/>
        </p:nvSpPr>
        <p:spPr>
          <a:xfrm>
            <a:off x="8951747" y="2322576"/>
            <a:ext cx="2526715" cy="50292"/>
          </a:xfrm>
          <a:prstGeom prst="rect">
            <a:avLst/>
          </a:prstGeom>
          <a:solidFill>
            <a:srgbClr val="1331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17" name="Rectangle 16"/>
          <p:cNvSpPr/>
          <p:nvPr/>
        </p:nvSpPr>
        <p:spPr>
          <a:xfrm>
            <a:off x="713232" y="5138928"/>
            <a:ext cx="3442106" cy="841248"/>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64592" tIns="73152" bIns="73152"/>
          <a:lstStyle/>
          <a:p>
            <a:pPr algn="l">
              <a:lnSpc>
                <a:spcPct val="105000"/>
              </a:lnSpc>
              <a:spcBef>
                <a:spcPts val="0"/>
              </a:spcBef>
              <a:spcAft>
                <a:spcPts val="0"/>
              </a:spcAft>
            </a:pPr>
            <a:r>
              <a:rPr sz="1450" b="1" i="0">
                <a:solidFill>
                  <a:srgbClr val="1B5EA8"/>
                </a:solidFill>
                <a:latin typeface="Calibri"/>
              </a:rPr>
              <a:t>40 horas por semana</a:t>
            </a:r>
          </a:p>
          <a:p>
            <a:pPr algn="l">
              <a:lnSpc>
                <a:spcPct val="120000"/>
              </a:lnSpc>
              <a:spcBef>
                <a:spcPts val="400"/>
              </a:spcBef>
              <a:spcAft>
                <a:spcPts val="0"/>
              </a:spcAft>
            </a:pPr>
            <a:r>
              <a:rPr sz="1050" b="0" i="0">
                <a:solidFill>
                  <a:srgbClr val="5A6774"/>
                </a:solidFill>
                <a:latin typeface="Calibri"/>
              </a:rPr>
              <a:t>Dedicación conjunta del equipo, todos con dedicación parcial</a:t>
            </a:r>
          </a:p>
        </p:txBody>
      </p:sp>
      <p:sp>
        <p:nvSpPr>
          <p:cNvPr id="18" name="Rectangle 17"/>
          <p:cNvSpPr/>
          <p:nvPr/>
        </p:nvSpPr>
        <p:spPr>
          <a:xfrm>
            <a:off x="4374794" y="5138928"/>
            <a:ext cx="3442106" cy="841248"/>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64592" tIns="73152" bIns="73152"/>
          <a:lstStyle/>
          <a:p>
            <a:pPr algn="l">
              <a:lnSpc>
                <a:spcPct val="105000"/>
              </a:lnSpc>
              <a:spcBef>
                <a:spcPts val="0"/>
              </a:spcBef>
              <a:spcAft>
                <a:spcPts val="0"/>
              </a:spcAft>
            </a:pPr>
            <a:r>
              <a:rPr sz="1450" b="1" i="0">
                <a:solidFill>
                  <a:srgbClr val="1B5EA8"/>
                </a:solidFill>
                <a:latin typeface="Calibri"/>
              </a:rPr>
              <a:t>Cerca de 440 horas</a:t>
            </a:r>
          </a:p>
          <a:p>
            <a:pPr algn="l">
              <a:lnSpc>
                <a:spcPct val="120000"/>
              </a:lnSpc>
              <a:spcBef>
                <a:spcPts val="400"/>
              </a:spcBef>
              <a:spcAft>
                <a:spcPts val="0"/>
              </a:spcAft>
            </a:pPr>
            <a:r>
              <a:rPr sz="1050" b="0" i="0">
                <a:solidFill>
                  <a:srgbClr val="5A6774"/>
                </a:solidFill>
                <a:latin typeface="Calibri"/>
              </a:rPr>
              <a:t>Esfuerzo total estimado en las once semanas del proyecto</a:t>
            </a:r>
          </a:p>
        </p:txBody>
      </p:sp>
      <p:sp>
        <p:nvSpPr>
          <p:cNvPr id="19" name="Rectangle 18"/>
          <p:cNvSpPr/>
          <p:nvPr/>
        </p:nvSpPr>
        <p:spPr>
          <a:xfrm>
            <a:off x="8036356" y="5138928"/>
            <a:ext cx="3442106" cy="841248"/>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64592" tIns="73152" bIns="73152"/>
          <a:lstStyle/>
          <a:p>
            <a:pPr algn="l">
              <a:lnSpc>
                <a:spcPct val="105000"/>
              </a:lnSpc>
              <a:spcBef>
                <a:spcPts val="0"/>
              </a:spcBef>
              <a:spcAft>
                <a:spcPts val="0"/>
              </a:spcAft>
            </a:pPr>
            <a:r>
              <a:rPr sz="1450" b="1" i="0">
                <a:solidFill>
                  <a:srgbClr val="1B5EA8"/>
                </a:solidFill>
                <a:latin typeface="Calibri"/>
              </a:rPr>
              <a:t>Un dueño por componente</a:t>
            </a:r>
          </a:p>
          <a:p>
            <a:pPr algn="l">
              <a:lnSpc>
                <a:spcPct val="120000"/>
              </a:lnSpc>
              <a:spcBef>
                <a:spcPts val="400"/>
              </a:spcBef>
              <a:spcAft>
                <a:spcPts val="0"/>
              </a:spcAft>
            </a:pPr>
            <a:r>
              <a:rPr sz="1050" b="0" i="0">
                <a:solidFill>
                  <a:srgbClr val="5A6774"/>
                </a:solidFill>
                <a:latin typeface="Calibri"/>
              </a:rPr>
              <a:t>Cada pieza del sistema tiene un responsable claro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37744" cy="6858000"/>
          </a:xfrm>
          <a:prstGeom prst="rect">
            <a:avLst/>
          </a:prstGeom>
          <a:solidFill>
            <a:srgbClr val="1331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3" name="TextBox 2"/>
          <p:cNvSpPr txBox="1"/>
          <p:nvPr/>
        </p:nvSpPr>
        <p:spPr>
          <a:xfrm>
            <a:off x="713232" y="475488"/>
            <a:ext cx="10765231" cy="292608"/>
          </a:xfrm>
          <a:prstGeom prst="rect">
            <a:avLst/>
          </a:prstGeom>
          <a:noFill/>
        </p:spPr>
        <p:txBody>
          <a:bodyPr wrap="square" lIns="0" rIns="0" tIns="0" bIns="0">
            <a:spAutoFit/>
          </a:bodyPr>
          <a:lstStyle/>
          <a:p>
            <a:pPr algn="l">
              <a:lnSpc>
                <a:spcPct val="118000"/>
              </a:lnSpc>
              <a:spcBef>
                <a:spcPts val="0"/>
              </a:spcBef>
              <a:spcAft>
                <a:spcPts val="0"/>
              </a:spcAft>
            </a:pPr>
            <a:r>
              <a:rPr sz="1050" b="1" i="0" spc="160">
                <a:solidFill>
                  <a:srgbClr val="1B5EA8"/>
                </a:solidFill>
                <a:latin typeface="Calibri"/>
              </a:rPr>
              <a:t>02 PROPUESTA</a:t>
            </a:r>
          </a:p>
        </p:txBody>
      </p:sp>
      <p:sp>
        <p:nvSpPr>
          <p:cNvPr id="4" name="TextBox 3"/>
          <p:cNvSpPr txBox="1"/>
          <p:nvPr/>
        </p:nvSpPr>
        <p:spPr>
          <a:xfrm>
            <a:off x="713232" y="804672"/>
            <a:ext cx="10765231" cy="566928"/>
          </a:xfrm>
          <a:prstGeom prst="rect">
            <a:avLst/>
          </a:prstGeom>
          <a:noFill/>
        </p:spPr>
        <p:txBody>
          <a:bodyPr wrap="square" lIns="0" rIns="0" tIns="0" bIns="0">
            <a:spAutoFit/>
          </a:bodyPr>
          <a:lstStyle/>
          <a:p>
            <a:pPr algn="l">
              <a:lnSpc>
                <a:spcPct val="102000"/>
              </a:lnSpc>
              <a:spcBef>
                <a:spcPts val="0"/>
              </a:spcBef>
              <a:spcAft>
                <a:spcPts val="0"/>
              </a:spcAft>
            </a:pPr>
            <a:r>
              <a:rPr sz="2900" b="1" i="0">
                <a:solidFill>
                  <a:srgbClr val="0F2438"/>
                </a:solidFill>
                <a:latin typeface="Calibri"/>
              </a:rPr>
              <a:t>Resumen</a:t>
            </a:r>
          </a:p>
        </p:txBody>
      </p:sp>
      <p:sp>
        <p:nvSpPr>
          <p:cNvPr id="5" name="Rectangle 4"/>
          <p:cNvSpPr/>
          <p:nvPr/>
        </p:nvSpPr>
        <p:spPr>
          <a:xfrm>
            <a:off x="713232" y="1481328"/>
            <a:ext cx="1325880" cy="41148"/>
          </a:xfrm>
          <a:prstGeom prst="rect">
            <a:avLst/>
          </a:prstGeom>
          <a:solidFill>
            <a:srgbClr val="1B5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6" name="TextBox 5"/>
          <p:cNvSpPr txBox="1"/>
          <p:nvPr/>
        </p:nvSpPr>
        <p:spPr>
          <a:xfrm>
            <a:off x="713232" y="6382512"/>
            <a:ext cx="7535661" cy="219456"/>
          </a:xfrm>
          <a:prstGeom prst="rect">
            <a:avLst/>
          </a:prstGeom>
          <a:noFill/>
        </p:spPr>
        <p:txBody>
          <a:bodyPr wrap="square" lIns="0" rIns="0" tIns="0" bIns="0">
            <a:spAutoFit/>
          </a:bodyPr>
          <a:lstStyle/>
          <a:p>
            <a:pPr algn="l">
              <a:lnSpc>
                <a:spcPct val="118000"/>
              </a:lnSpc>
              <a:spcBef>
                <a:spcPts val="0"/>
              </a:spcBef>
              <a:spcAft>
                <a:spcPts val="0"/>
              </a:spcAft>
            </a:pPr>
            <a:r>
              <a:rPr sz="900" b="0" i="0">
                <a:solidFill>
                  <a:srgbClr val="8C99A6"/>
                </a:solidFill>
                <a:latin typeface="Calibri"/>
              </a:rPr>
              <a:t>Knowledge Desk   |   Propuesta comercial 001   |   KD12</a:t>
            </a:r>
          </a:p>
        </p:txBody>
      </p:sp>
      <p:sp>
        <p:nvSpPr>
          <p:cNvPr id="7" name="TextBox 6"/>
          <p:cNvSpPr txBox="1"/>
          <p:nvPr/>
        </p:nvSpPr>
        <p:spPr>
          <a:xfrm>
            <a:off x="10381183" y="6382512"/>
            <a:ext cx="1097280" cy="219456"/>
          </a:xfrm>
          <a:prstGeom prst="rect">
            <a:avLst/>
          </a:prstGeom>
          <a:noFill/>
        </p:spPr>
        <p:txBody>
          <a:bodyPr wrap="square" lIns="0" rIns="0" tIns="0" bIns="0">
            <a:spAutoFit/>
          </a:bodyPr>
          <a:lstStyle/>
          <a:p>
            <a:pPr algn="r">
              <a:lnSpc>
                <a:spcPct val="118000"/>
              </a:lnSpc>
              <a:spcBef>
                <a:spcPts val="0"/>
              </a:spcBef>
              <a:spcAft>
                <a:spcPts val="0"/>
              </a:spcAft>
            </a:pPr>
            <a:r>
              <a:rPr sz="900" b="0" i="0">
                <a:solidFill>
                  <a:srgbClr val="8C99A6"/>
                </a:solidFill>
                <a:latin typeface="Calibri"/>
              </a:rPr>
              <a:t>3</a:t>
            </a:r>
          </a:p>
        </p:txBody>
      </p:sp>
      <p:sp>
        <p:nvSpPr>
          <p:cNvPr id="8" name="Rectangle 7"/>
          <p:cNvSpPr/>
          <p:nvPr/>
        </p:nvSpPr>
        <p:spPr>
          <a:xfrm>
            <a:off x="713232" y="1700784"/>
            <a:ext cx="10765231" cy="1024128"/>
          </a:xfrm>
          <a:prstGeom prst="rect">
            <a:avLst/>
          </a:prstGeom>
          <a:solidFill>
            <a:srgbClr val="1331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320040" tIns="73152" bIns="73152"/>
          <a:lstStyle/>
          <a:p>
            <a:pPr algn="l">
              <a:lnSpc>
                <a:spcPct val="116000"/>
              </a:lnSpc>
              <a:spcBef>
                <a:spcPts val="0"/>
              </a:spcBef>
              <a:spcAft>
                <a:spcPts val="0"/>
              </a:spcAft>
            </a:pPr>
            <a:r>
              <a:rPr sz="1700" b="1" i="0">
                <a:solidFill>
                  <a:srgbClr val="FFFFFF"/>
                </a:solidFill>
                <a:latin typeface="Calibri"/>
              </a:rPr>
              <a:t>Optimizar la consulta de los procedimientos internos de ForUsAll mediante una herramienta web basada en recuperación aumentada de información, con respuestas sustentadas en la documentación oficial.</a:t>
            </a:r>
          </a:p>
        </p:txBody>
      </p:sp>
      <p:sp>
        <p:nvSpPr>
          <p:cNvPr id="9" name="TextBox 8"/>
          <p:cNvSpPr txBox="1"/>
          <p:nvPr/>
        </p:nvSpPr>
        <p:spPr>
          <a:xfrm>
            <a:off x="713232" y="2907792"/>
            <a:ext cx="5597920" cy="256032"/>
          </a:xfrm>
          <a:prstGeom prst="rect">
            <a:avLst/>
          </a:prstGeom>
          <a:noFill/>
        </p:spPr>
        <p:txBody>
          <a:bodyPr wrap="square" lIns="0" rIns="0" tIns="0" bIns="0">
            <a:spAutoFit/>
          </a:bodyPr>
          <a:lstStyle/>
          <a:p>
            <a:pPr algn="l">
              <a:lnSpc>
                <a:spcPct val="118000"/>
              </a:lnSpc>
              <a:spcBef>
                <a:spcPts val="0"/>
              </a:spcBef>
              <a:spcAft>
                <a:spcPts val="0"/>
              </a:spcAft>
            </a:pPr>
            <a:r>
              <a:rPr sz="1050" b="1" i="0" spc="180">
                <a:solidFill>
                  <a:srgbClr val="1B5EA8"/>
                </a:solidFill>
                <a:latin typeface="Calibri"/>
              </a:rPr>
              <a:t>QUÉ RESUELVE</a:t>
            </a:r>
          </a:p>
        </p:txBody>
      </p:sp>
      <p:sp>
        <p:nvSpPr>
          <p:cNvPr id="10" name="TextBox 9"/>
          <p:cNvSpPr txBox="1"/>
          <p:nvPr/>
        </p:nvSpPr>
        <p:spPr>
          <a:xfrm>
            <a:off x="6741761" y="2907792"/>
            <a:ext cx="4736701" cy="256032"/>
          </a:xfrm>
          <a:prstGeom prst="rect">
            <a:avLst/>
          </a:prstGeom>
          <a:noFill/>
        </p:spPr>
        <p:txBody>
          <a:bodyPr wrap="square" lIns="0" rIns="0" tIns="0" bIns="0">
            <a:spAutoFit/>
          </a:bodyPr>
          <a:lstStyle/>
          <a:p>
            <a:pPr algn="l">
              <a:lnSpc>
                <a:spcPct val="118000"/>
              </a:lnSpc>
              <a:spcBef>
                <a:spcPts val="0"/>
              </a:spcBef>
              <a:spcAft>
                <a:spcPts val="0"/>
              </a:spcAft>
            </a:pPr>
            <a:r>
              <a:rPr sz="1050" b="1" i="0" spc="180">
                <a:solidFill>
                  <a:srgbClr val="1B5EA8"/>
                </a:solidFill>
                <a:latin typeface="Calibri"/>
              </a:rPr>
              <a:t>QUÉ DEVUELVE ANTE CADA PREGUNTA</a:t>
            </a:r>
          </a:p>
        </p:txBody>
      </p:sp>
      <p:sp>
        <p:nvSpPr>
          <p:cNvPr id="11" name="Rectangle 10"/>
          <p:cNvSpPr/>
          <p:nvPr/>
        </p:nvSpPr>
        <p:spPr>
          <a:xfrm>
            <a:off x="713232" y="3200400"/>
            <a:ext cx="5597920" cy="621792"/>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46304" tIns="73152" bIns="73152"/>
          <a:lstStyle/>
          <a:p>
            <a:pPr algn="l">
              <a:lnSpc>
                <a:spcPct val="105000"/>
              </a:lnSpc>
              <a:spcBef>
                <a:spcPts val="0"/>
              </a:spcBef>
              <a:spcAft>
                <a:spcPts val="0"/>
              </a:spcAft>
            </a:pPr>
            <a:r>
              <a:rPr sz="1250" b="1" i="0">
                <a:solidFill>
                  <a:srgbClr val="0F2438"/>
                </a:solidFill>
                <a:latin typeface="Calibri"/>
              </a:rPr>
              <a:t>El material ya está escrito</a:t>
            </a:r>
          </a:p>
          <a:p>
            <a:pPr algn="l">
              <a:lnSpc>
                <a:spcPct val="116000"/>
              </a:lnSpc>
              <a:spcBef>
                <a:spcPts val="200"/>
              </a:spcBef>
              <a:spcAft>
                <a:spcPts val="0"/>
              </a:spcAft>
            </a:pPr>
            <a:r>
              <a:rPr sz="1050" b="0" i="0">
                <a:solidFill>
                  <a:srgbClr val="5A6774"/>
                </a:solidFill>
                <a:latin typeface="Calibri"/>
              </a:rPr>
              <a:t>Los procedimientos están redactados, revisados y aprobados por el área.</a:t>
            </a:r>
          </a:p>
        </p:txBody>
      </p:sp>
      <p:sp>
        <p:nvSpPr>
          <p:cNvPr id="12" name="Rectangle 11"/>
          <p:cNvSpPr/>
          <p:nvPr/>
        </p:nvSpPr>
        <p:spPr>
          <a:xfrm>
            <a:off x="713232" y="3200400"/>
            <a:ext cx="45720" cy="621792"/>
          </a:xfrm>
          <a:prstGeom prst="rect">
            <a:avLst/>
          </a:prstGeom>
          <a:solidFill>
            <a:srgbClr val="1B5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13" name="Rectangle 12"/>
          <p:cNvSpPr/>
          <p:nvPr/>
        </p:nvSpPr>
        <p:spPr>
          <a:xfrm>
            <a:off x="713232" y="3895344"/>
            <a:ext cx="5597920" cy="621792"/>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46304" tIns="73152" bIns="73152"/>
          <a:lstStyle/>
          <a:p>
            <a:pPr algn="l">
              <a:lnSpc>
                <a:spcPct val="105000"/>
              </a:lnSpc>
              <a:spcBef>
                <a:spcPts val="0"/>
              </a:spcBef>
              <a:spcAft>
                <a:spcPts val="0"/>
              </a:spcAft>
            </a:pPr>
            <a:r>
              <a:rPr sz="1250" b="1" i="0">
                <a:solidFill>
                  <a:srgbClr val="0F2438"/>
                </a:solidFill>
                <a:latin typeface="Calibri"/>
              </a:rPr>
              <a:t>La búsqueda es literal</a:t>
            </a:r>
          </a:p>
          <a:p>
            <a:pPr algn="l">
              <a:lnSpc>
                <a:spcPct val="116000"/>
              </a:lnSpc>
              <a:spcBef>
                <a:spcPts val="200"/>
              </a:spcBef>
              <a:spcAft>
                <a:spcPts val="0"/>
              </a:spcAft>
            </a:pPr>
            <a:r>
              <a:rPr sz="1050" b="0" i="0">
                <a:solidFill>
                  <a:srgbClr val="5A6774"/>
                </a:solidFill>
                <a:latin typeface="Calibri"/>
              </a:rPr>
              <a:t>Si la palabra no coincide con el título, el documento no aparece aunque tenga la respuesta.</a:t>
            </a:r>
          </a:p>
        </p:txBody>
      </p:sp>
      <p:sp>
        <p:nvSpPr>
          <p:cNvPr id="14" name="Rectangle 13"/>
          <p:cNvSpPr/>
          <p:nvPr/>
        </p:nvSpPr>
        <p:spPr>
          <a:xfrm>
            <a:off x="713232" y="3895344"/>
            <a:ext cx="45720" cy="621792"/>
          </a:xfrm>
          <a:prstGeom prst="rect">
            <a:avLst/>
          </a:prstGeom>
          <a:solidFill>
            <a:srgbClr val="1B5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15" name="Rectangle 14"/>
          <p:cNvSpPr/>
          <p:nvPr/>
        </p:nvSpPr>
        <p:spPr>
          <a:xfrm>
            <a:off x="713232" y="4590288"/>
            <a:ext cx="5597920" cy="621792"/>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46304" tIns="73152" bIns="73152"/>
          <a:lstStyle/>
          <a:p>
            <a:pPr algn="l">
              <a:lnSpc>
                <a:spcPct val="105000"/>
              </a:lnSpc>
              <a:spcBef>
                <a:spcPts val="0"/>
              </a:spcBef>
              <a:spcAft>
                <a:spcPts val="0"/>
              </a:spcAft>
            </a:pPr>
            <a:r>
              <a:rPr sz="1250" b="1" i="0">
                <a:solidFill>
                  <a:srgbClr val="0F2438"/>
                </a:solidFill>
                <a:latin typeface="Calibri"/>
              </a:rPr>
              <a:t>Y hay que leerlo entero</a:t>
            </a:r>
          </a:p>
          <a:p>
            <a:pPr algn="l">
              <a:lnSpc>
                <a:spcPct val="116000"/>
              </a:lnSpc>
              <a:spcBef>
                <a:spcPts val="200"/>
              </a:spcBef>
              <a:spcAft>
                <a:spcPts val="0"/>
              </a:spcAft>
            </a:pPr>
            <a:r>
              <a:rPr sz="1050" b="0" i="0">
                <a:solidFill>
                  <a:srgbClr val="5A6774"/>
                </a:solidFill>
                <a:latin typeface="Calibri"/>
              </a:rPr>
              <a:t>Cada consulta toma entre tres y diez minutos, y muchas veces acaba en preguntarle a alguien.</a:t>
            </a:r>
          </a:p>
        </p:txBody>
      </p:sp>
      <p:sp>
        <p:nvSpPr>
          <p:cNvPr id="16" name="Rectangle 15"/>
          <p:cNvSpPr/>
          <p:nvPr/>
        </p:nvSpPr>
        <p:spPr>
          <a:xfrm>
            <a:off x="713232" y="4590288"/>
            <a:ext cx="45720" cy="621792"/>
          </a:xfrm>
          <a:prstGeom prst="rect">
            <a:avLst/>
          </a:prstGeom>
          <a:solidFill>
            <a:srgbClr val="1B5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17" name="Rectangle 16"/>
          <p:cNvSpPr/>
          <p:nvPr/>
        </p:nvSpPr>
        <p:spPr>
          <a:xfrm>
            <a:off x="6741761" y="3200400"/>
            <a:ext cx="475488" cy="420624"/>
          </a:xfrm>
          <a:prstGeom prst="rect">
            <a:avLst/>
          </a:prstGeom>
          <a:solidFill>
            <a:srgbClr val="E7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lnSpc>
                <a:spcPct val="115000"/>
              </a:lnSpc>
              <a:spcBef>
                <a:spcPts val="0"/>
              </a:spcBef>
              <a:spcAft>
                <a:spcPts val="0"/>
              </a:spcAft>
            </a:pPr>
            <a:r>
              <a:rPr sz="1100" b="1" i="0">
                <a:solidFill>
                  <a:srgbClr val="1B5EA8"/>
                </a:solidFill>
                <a:latin typeface="Calibri"/>
              </a:rPr>
              <a:t>01</a:t>
            </a:r>
          </a:p>
        </p:txBody>
      </p:sp>
      <p:sp>
        <p:nvSpPr>
          <p:cNvPr id="18" name="TextBox 17"/>
          <p:cNvSpPr txBox="1"/>
          <p:nvPr/>
        </p:nvSpPr>
        <p:spPr>
          <a:xfrm>
            <a:off x="7345265" y="3282696"/>
            <a:ext cx="4133197" cy="310896"/>
          </a:xfrm>
          <a:prstGeom prst="rect">
            <a:avLst/>
          </a:prstGeom>
          <a:noFill/>
        </p:spPr>
        <p:txBody>
          <a:bodyPr wrap="square" lIns="0" rIns="0" tIns="0" bIns="0">
            <a:spAutoFit/>
          </a:bodyPr>
          <a:lstStyle/>
          <a:p>
            <a:pPr algn="l">
              <a:lnSpc>
                <a:spcPct val="110000"/>
              </a:lnSpc>
              <a:spcBef>
                <a:spcPts val="0"/>
              </a:spcBef>
              <a:spcAft>
                <a:spcPts val="0"/>
              </a:spcAft>
            </a:pPr>
            <a:r>
              <a:rPr sz="1300" b="0" i="0">
                <a:solidFill>
                  <a:srgbClr val="0F2438"/>
                </a:solidFill>
                <a:latin typeface="Calibri"/>
              </a:rPr>
              <a:t>Una respuesta redactada</a:t>
            </a:r>
          </a:p>
        </p:txBody>
      </p:sp>
      <p:sp>
        <p:nvSpPr>
          <p:cNvPr id="19" name="Rectangle 18"/>
          <p:cNvSpPr/>
          <p:nvPr/>
        </p:nvSpPr>
        <p:spPr>
          <a:xfrm>
            <a:off x="6741761" y="3721608"/>
            <a:ext cx="475488" cy="420624"/>
          </a:xfrm>
          <a:prstGeom prst="rect">
            <a:avLst/>
          </a:prstGeom>
          <a:solidFill>
            <a:srgbClr val="E7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lnSpc>
                <a:spcPct val="115000"/>
              </a:lnSpc>
              <a:spcBef>
                <a:spcPts val="0"/>
              </a:spcBef>
              <a:spcAft>
                <a:spcPts val="0"/>
              </a:spcAft>
            </a:pPr>
            <a:r>
              <a:rPr sz="1100" b="1" i="0">
                <a:solidFill>
                  <a:srgbClr val="1B5EA8"/>
                </a:solidFill>
                <a:latin typeface="Calibri"/>
              </a:rPr>
              <a:t>02</a:t>
            </a:r>
          </a:p>
        </p:txBody>
      </p:sp>
      <p:sp>
        <p:nvSpPr>
          <p:cNvPr id="20" name="TextBox 19"/>
          <p:cNvSpPr txBox="1"/>
          <p:nvPr/>
        </p:nvSpPr>
        <p:spPr>
          <a:xfrm>
            <a:off x="7345265" y="3803904"/>
            <a:ext cx="4133197" cy="310896"/>
          </a:xfrm>
          <a:prstGeom prst="rect">
            <a:avLst/>
          </a:prstGeom>
          <a:noFill/>
        </p:spPr>
        <p:txBody>
          <a:bodyPr wrap="square" lIns="0" rIns="0" tIns="0" bIns="0">
            <a:spAutoFit/>
          </a:bodyPr>
          <a:lstStyle/>
          <a:p>
            <a:pPr algn="l">
              <a:lnSpc>
                <a:spcPct val="110000"/>
              </a:lnSpc>
              <a:spcBef>
                <a:spcPts val="0"/>
              </a:spcBef>
              <a:spcAft>
                <a:spcPts val="0"/>
              </a:spcAft>
            </a:pPr>
            <a:r>
              <a:rPr sz="1300" b="0" i="0">
                <a:solidFill>
                  <a:srgbClr val="0F2438"/>
                </a:solidFill>
                <a:latin typeface="Calibri"/>
              </a:rPr>
              <a:t>Los puntos más relevantes</a:t>
            </a:r>
          </a:p>
        </p:txBody>
      </p:sp>
      <p:sp>
        <p:nvSpPr>
          <p:cNvPr id="21" name="Rectangle 20"/>
          <p:cNvSpPr/>
          <p:nvPr/>
        </p:nvSpPr>
        <p:spPr>
          <a:xfrm>
            <a:off x="6741761" y="4242816"/>
            <a:ext cx="475488" cy="420624"/>
          </a:xfrm>
          <a:prstGeom prst="rect">
            <a:avLst/>
          </a:prstGeom>
          <a:solidFill>
            <a:srgbClr val="E7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lnSpc>
                <a:spcPct val="115000"/>
              </a:lnSpc>
              <a:spcBef>
                <a:spcPts val="0"/>
              </a:spcBef>
              <a:spcAft>
                <a:spcPts val="0"/>
              </a:spcAft>
            </a:pPr>
            <a:r>
              <a:rPr sz="1100" b="1" i="0">
                <a:solidFill>
                  <a:srgbClr val="1E7A5A"/>
                </a:solidFill>
                <a:latin typeface="Calibri"/>
              </a:rPr>
              <a:t>03</a:t>
            </a:r>
          </a:p>
        </p:txBody>
      </p:sp>
      <p:sp>
        <p:nvSpPr>
          <p:cNvPr id="22" name="TextBox 21"/>
          <p:cNvSpPr txBox="1"/>
          <p:nvPr/>
        </p:nvSpPr>
        <p:spPr>
          <a:xfrm>
            <a:off x="7345265" y="4325112"/>
            <a:ext cx="4133197" cy="310896"/>
          </a:xfrm>
          <a:prstGeom prst="rect">
            <a:avLst/>
          </a:prstGeom>
          <a:noFill/>
        </p:spPr>
        <p:txBody>
          <a:bodyPr wrap="square" lIns="0" rIns="0" tIns="0" bIns="0">
            <a:spAutoFit/>
          </a:bodyPr>
          <a:lstStyle/>
          <a:p>
            <a:pPr algn="l">
              <a:lnSpc>
                <a:spcPct val="110000"/>
              </a:lnSpc>
              <a:spcBef>
                <a:spcPts val="0"/>
              </a:spcBef>
              <a:spcAft>
                <a:spcPts val="0"/>
              </a:spcAft>
            </a:pPr>
            <a:r>
              <a:rPr sz="1300" b="0" i="0">
                <a:solidFill>
                  <a:srgbClr val="0F2438"/>
                </a:solidFill>
                <a:latin typeface="Calibri"/>
              </a:rPr>
              <a:t>Los documentos que la sustentan</a:t>
            </a:r>
          </a:p>
        </p:txBody>
      </p:sp>
      <p:sp>
        <p:nvSpPr>
          <p:cNvPr id="23" name="Rectangle 22"/>
          <p:cNvSpPr/>
          <p:nvPr/>
        </p:nvSpPr>
        <p:spPr>
          <a:xfrm>
            <a:off x="6741761" y="4764024"/>
            <a:ext cx="475488" cy="420624"/>
          </a:xfrm>
          <a:prstGeom prst="rect">
            <a:avLst/>
          </a:prstGeom>
          <a:solidFill>
            <a:srgbClr val="E7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lnSpc>
                <a:spcPct val="115000"/>
              </a:lnSpc>
              <a:spcBef>
                <a:spcPts val="0"/>
              </a:spcBef>
              <a:spcAft>
                <a:spcPts val="0"/>
              </a:spcAft>
            </a:pPr>
            <a:r>
              <a:rPr sz="1100" b="1" i="0">
                <a:solidFill>
                  <a:srgbClr val="B0760E"/>
                </a:solidFill>
                <a:latin typeface="Calibri"/>
              </a:rPr>
              <a:t>04</a:t>
            </a:r>
          </a:p>
        </p:txBody>
      </p:sp>
      <p:sp>
        <p:nvSpPr>
          <p:cNvPr id="24" name="TextBox 23"/>
          <p:cNvSpPr txBox="1"/>
          <p:nvPr/>
        </p:nvSpPr>
        <p:spPr>
          <a:xfrm>
            <a:off x="7345265" y="4846320"/>
            <a:ext cx="4133197" cy="310896"/>
          </a:xfrm>
          <a:prstGeom prst="rect">
            <a:avLst/>
          </a:prstGeom>
          <a:noFill/>
        </p:spPr>
        <p:txBody>
          <a:bodyPr wrap="square" lIns="0" rIns="0" tIns="0" bIns="0">
            <a:spAutoFit/>
          </a:bodyPr>
          <a:lstStyle/>
          <a:p>
            <a:pPr algn="l">
              <a:lnSpc>
                <a:spcPct val="110000"/>
              </a:lnSpc>
              <a:spcBef>
                <a:spcPts val="0"/>
              </a:spcBef>
              <a:spcAft>
                <a:spcPts val="0"/>
              </a:spcAft>
            </a:pPr>
            <a:r>
              <a:rPr sz="1300" b="0" i="0">
                <a:solidFill>
                  <a:srgbClr val="0F2438"/>
                </a:solidFill>
                <a:latin typeface="Calibri"/>
              </a:rPr>
              <a:t>Qué tan bien está cubierto el tema</a:t>
            </a:r>
          </a:p>
        </p:txBody>
      </p:sp>
      <p:sp>
        <p:nvSpPr>
          <p:cNvPr id="25" name="Rectangle 24"/>
          <p:cNvSpPr/>
          <p:nvPr/>
        </p:nvSpPr>
        <p:spPr>
          <a:xfrm>
            <a:off x="6741761" y="5340096"/>
            <a:ext cx="4736701" cy="566928"/>
          </a:xfrm>
          <a:prstGeom prst="rect">
            <a:avLst/>
          </a:prstGeom>
          <a:solidFill>
            <a:srgbClr val="E4F2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64592" tIns="73152" bIns="73152"/>
          <a:lstStyle/>
          <a:p>
            <a:pPr algn="l">
              <a:lnSpc>
                <a:spcPct val="105000"/>
              </a:lnSpc>
              <a:spcBef>
                <a:spcPts val="0"/>
              </a:spcBef>
              <a:spcAft>
                <a:spcPts val="0"/>
              </a:spcAft>
            </a:pPr>
            <a:r>
              <a:rPr sz="1250" b="1" i="0">
                <a:solidFill>
                  <a:srgbClr val="1E7A5A"/>
                </a:solidFill>
                <a:latin typeface="Calibri"/>
              </a:rPr>
              <a:t>Si el material no alcanza, lo dice</a:t>
            </a:r>
          </a:p>
          <a:p>
            <a:pPr algn="l">
              <a:lnSpc>
                <a:spcPct val="110000"/>
              </a:lnSpc>
              <a:spcBef>
                <a:spcPts val="200"/>
              </a:spcBef>
              <a:spcAft>
                <a:spcPts val="0"/>
              </a:spcAft>
            </a:pPr>
            <a:r>
              <a:rPr sz="1050" b="0" i="0">
                <a:solidFill>
                  <a:srgbClr val="5A6774"/>
                </a:solidFill>
                <a:latin typeface="Calibri"/>
              </a:rPr>
              <a:t>No arma una respuesta sin respaldo documental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37744" cy="6858000"/>
          </a:xfrm>
          <a:prstGeom prst="rect">
            <a:avLst/>
          </a:prstGeom>
          <a:solidFill>
            <a:srgbClr val="1331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3" name="TextBox 2"/>
          <p:cNvSpPr txBox="1"/>
          <p:nvPr/>
        </p:nvSpPr>
        <p:spPr>
          <a:xfrm>
            <a:off x="713232" y="475488"/>
            <a:ext cx="10765231" cy="292608"/>
          </a:xfrm>
          <a:prstGeom prst="rect">
            <a:avLst/>
          </a:prstGeom>
          <a:noFill/>
        </p:spPr>
        <p:txBody>
          <a:bodyPr wrap="square" lIns="0" rIns="0" tIns="0" bIns="0">
            <a:spAutoFit/>
          </a:bodyPr>
          <a:lstStyle/>
          <a:p>
            <a:pPr algn="l">
              <a:lnSpc>
                <a:spcPct val="118000"/>
              </a:lnSpc>
              <a:spcBef>
                <a:spcPts val="0"/>
              </a:spcBef>
              <a:spcAft>
                <a:spcPts val="0"/>
              </a:spcAft>
            </a:pPr>
            <a:r>
              <a:rPr sz="1050" b="1" i="0" spc="160">
                <a:solidFill>
                  <a:srgbClr val="1B5EA8"/>
                </a:solidFill>
                <a:latin typeface="Calibri"/>
              </a:rPr>
              <a:t>02 PROPUESTA</a:t>
            </a:r>
          </a:p>
        </p:txBody>
      </p:sp>
      <p:sp>
        <p:nvSpPr>
          <p:cNvPr id="4" name="TextBox 3"/>
          <p:cNvSpPr txBox="1"/>
          <p:nvPr/>
        </p:nvSpPr>
        <p:spPr>
          <a:xfrm>
            <a:off x="713232" y="804672"/>
            <a:ext cx="10765231" cy="566928"/>
          </a:xfrm>
          <a:prstGeom prst="rect">
            <a:avLst/>
          </a:prstGeom>
          <a:noFill/>
        </p:spPr>
        <p:txBody>
          <a:bodyPr wrap="square" lIns="0" rIns="0" tIns="0" bIns="0">
            <a:spAutoFit/>
          </a:bodyPr>
          <a:lstStyle/>
          <a:p>
            <a:pPr algn="l">
              <a:lnSpc>
                <a:spcPct val="102000"/>
              </a:lnSpc>
              <a:spcBef>
                <a:spcPts val="0"/>
              </a:spcBef>
              <a:spcAft>
                <a:spcPts val="0"/>
              </a:spcAft>
            </a:pPr>
            <a:r>
              <a:rPr sz="2900" b="1" i="0">
                <a:solidFill>
                  <a:srgbClr val="0F2438"/>
                </a:solidFill>
                <a:latin typeface="Calibri"/>
              </a:rPr>
              <a:t>Cronograma</a:t>
            </a:r>
          </a:p>
        </p:txBody>
      </p:sp>
      <p:sp>
        <p:nvSpPr>
          <p:cNvPr id="5" name="Rectangle 4"/>
          <p:cNvSpPr/>
          <p:nvPr/>
        </p:nvSpPr>
        <p:spPr>
          <a:xfrm>
            <a:off x="713232" y="1481328"/>
            <a:ext cx="1325880" cy="41148"/>
          </a:xfrm>
          <a:prstGeom prst="rect">
            <a:avLst/>
          </a:prstGeom>
          <a:solidFill>
            <a:srgbClr val="1B5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6" name="TextBox 5"/>
          <p:cNvSpPr txBox="1"/>
          <p:nvPr/>
        </p:nvSpPr>
        <p:spPr>
          <a:xfrm>
            <a:off x="713232" y="1627632"/>
            <a:ext cx="9258098" cy="384048"/>
          </a:xfrm>
          <a:prstGeom prst="rect">
            <a:avLst/>
          </a:prstGeom>
          <a:noFill/>
        </p:spPr>
        <p:txBody>
          <a:bodyPr wrap="square" lIns="0" rIns="0" tIns="0" bIns="0">
            <a:spAutoFit/>
          </a:bodyPr>
          <a:lstStyle/>
          <a:p>
            <a:pPr algn="l">
              <a:lnSpc>
                <a:spcPct val="122000"/>
              </a:lnSpc>
              <a:spcBef>
                <a:spcPts val="0"/>
              </a:spcBef>
              <a:spcAft>
                <a:spcPts val="0"/>
              </a:spcAft>
            </a:pPr>
            <a:r>
              <a:rPr sz="1350" b="0" i="0">
                <a:solidFill>
                  <a:srgbClr val="5A6774"/>
                </a:solidFill>
                <a:latin typeface="Calibri"/>
              </a:rPr>
              <a:t>Seis sprints de dos semanas repartidos en once semanas, del 5 de agosto al 21 de octubre. Cierran en miércoles para caer en la sesión de clase.</a:t>
            </a:r>
          </a:p>
        </p:txBody>
      </p:sp>
      <p:sp>
        <p:nvSpPr>
          <p:cNvPr id="7" name="TextBox 6"/>
          <p:cNvSpPr txBox="1"/>
          <p:nvPr/>
        </p:nvSpPr>
        <p:spPr>
          <a:xfrm>
            <a:off x="713232" y="6382512"/>
            <a:ext cx="7535661" cy="219456"/>
          </a:xfrm>
          <a:prstGeom prst="rect">
            <a:avLst/>
          </a:prstGeom>
          <a:noFill/>
        </p:spPr>
        <p:txBody>
          <a:bodyPr wrap="square" lIns="0" rIns="0" tIns="0" bIns="0">
            <a:spAutoFit/>
          </a:bodyPr>
          <a:lstStyle/>
          <a:p>
            <a:pPr algn="l">
              <a:lnSpc>
                <a:spcPct val="118000"/>
              </a:lnSpc>
              <a:spcBef>
                <a:spcPts val="0"/>
              </a:spcBef>
              <a:spcAft>
                <a:spcPts val="0"/>
              </a:spcAft>
            </a:pPr>
            <a:r>
              <a:rPr sz="900" b="0" i="0">
                <a:solidFill>
                  <a:srgbClr val="8C99A6"/>
                </a:solidFill>
                <a:latin typeface="Calibri"/>
              </a:rPr>
              <a:t>Knowledge Desk   |   Propuesta comercial 001   |   KD12</a:t>
            </a:r>
          </a:p>
        </p:txBody>
      </p:sp>
      <p:sp>
        <p:nvSpPr>
          <p:cNvPr id="8" name="TextBox 7"/>
          <p:cNvSpPr txBox="1"/>
          <p:nvPr/>
        </p:nvSpPr>
        <p:spPr>
          <a:xfrm>
            <a:off x="10381183" y="6382512"/>
            <a:ext cx="1097280" cy="219456"/>
          </a:xfrm>
          <a:prstGeom prst="rect">
            <a:avLst/>
          </a:prstGeom>
          <a:noFill/>
        </p:spPr>
        <p:txBody>
          <a:bodyPr wrap="square" lIns="0" rIns="0" tIns="0" bIns="0">
            <a:spAutoFit/>
          </a:bodyPr>
          <a:lstStyle/>
          <a:p>
            <a:pPr algn="r">
              <a:lnSpc>
                <a:spcPct val="118000"/>
              </a:lnSpc>
              <a:spcBef>
                <a:spcPts val="0"/>
              </a:spcBef>
              <a:spcAft>
                <a:spcPts val="0"/>
              </a:spcAft>
            </a:pPr>
            <a:r>
              <a:rPr sz="900" b="0" i="0">
                <a:solidFill>
                  <a:srgbClr val="8C99A6"/>
                </a:solidFill>
                <a:latin typeface="Calibri"/>
              </a:rPr>
              <a:t>4</a:t>
            </a:r>
          </a:p>
        </p:txBody>
      </p:sp>
      <p:graphicFrame>
        <p:nvGraphicFramePr>
          <p:cNvPr id="9" name="Table 8"/>
          <p:cNvGraphicFramePr>
            <a:graphicFrameLocks noGrp="1"/>
          </p:cNvGraphicFramePr>
          <p:nvPr/>
        </p:nvGraphicFramePr>
        <p:xfrm>
          <a:off x="713232" y="2340864"/>
          <a:ext cx="10765231" cy="2670048"/>
        </p:xfrm>
        <a:graphic>
          <a:graphicData uri="http://schemas.openxmlformats.org/drawingml/2006/table">
            <a:tbl>
              <a:tblPr>
                <a:tableStyleId>{2D5ABB26-0587-4C30-8999-92F81FD0307C}</a:tableStyleId>
              </a:tblPr>
              <a:tblGrid>
                <a:gridCol w="777240"/>
                <a:gridCol w="1097280"/>
                <a:gridCol w="1554480"/>
                <a:gridCol w="4547311"/>
                <a:gridCol w="2788920"/>
              </a:tblGrid>
              <a:tr h="365760">
                <a:tc>
                  <a:txBody>
                    <a:bodyPr wrap="square"/>
                    <a:lstStyle/>
                    <a:p>
                      <a:pPr algn="ctr">
                        <a:lnSpc>
                          <a:spcPct val="108000"/>
                        </a:lnSpc>
                      </a:pPr>
                      <a:r>
                        <a:rPr sz="1100" b="1">
                          <a:solidFill>
                            <a:srgbClr val="FFFFFF"/>
                          </a:solidFill>
                          <a:latin typeface="Calibri"/>
                        </a:rPr>
                        <a:t>Sprint</a:t>
                      </a:r>
                    </a:p>
                  </a:txBody>
                  <a:tcPr marL="91440" marR="91440" marT="41148" marB="41148" anchor="ctr">
                    <a:solidFill>
                      <a:srgbClr val="13314B"/>
                    </a:solidFill>
                    <a:lnB w="9525" cap="flat" cmpd="sng" algn="ctr">
                      <a:solidFill>
                        <a:srgbClr val="13314B"/>
                      </a:solidFill>
                      <a:prstDash val="solid"/>
                    </a:lnB>
                  </a:tcPr>
                </a:tc>
                <a:tc>
                  <a:txBody>
                    <a:bodyPr wrap="square"/>
                    <a:lstStyle/>
                    <a:p>
                      <a:pPr algn="ctr">
                        <a:lnSpc>
                          <a:spcPct val="108000"/>
                        </a:lnSpc>
                      </a:pPr>
                      <a:r>
                        <a:rPr sz="1100" b="1">
                          <a:solidFill>
                            <a:srgbClr val="FFFFFF"/>
                          </a:solidFill>
                          <a:latin typeface="Calibri"/>
                        </a:rPr>
                        <a:t>Estado</a:t>
                      </a:r>
                    </a:p>
                  </a:txBody>
                  <a:tcPr marL="91440" marR="91440" marT="41148" marB="41148" anchor="ctr">
                    <a:solidFill>
                      <a:srgbClr val="13314B"/>
                    </a:solidFill>
                    <a:lnB w="9525" cap="flat" cmpd="sng" algn="ctr">
                      <a:solidFill>
                        <a:srgbClr val="13314B"/>
                      </a:solidFill>
                      <a:prstDash val="solid"/>
                    </a:lnB>
                  </a:tcPr>
                </a:tc>
                <a:tc>
                  <a:txBody>
                    <a:bodyPr wrap="square"/>
                    <a:lstStyle/>
                    <a:p>
                      <a:pPr algn="l">
                        <a:lnSpc>
                          <a:spcPct val="108000"/>
                        </a:lnSpc>
                      </a:pPr>
                      <a:r>
                        <a:rPr sz="1100" b="1">
                          <a:solidFill>
                            <a:srgbClr val="FFFFFF"/>
                          </a:solidFill>
                          <a:latin typeface="Calibri"/>
                        </a:rPr>
                        <a:t>Fechas</a:t>
                      </a:r>
                    </a:p>
                  </a:txBody>
                  <a:tcPr marL="91440" marR="91440" marT="41148" marB="41148" anchor="ctr">
                    <a:solidFill>
                      <a:srgbClr val="13314B"/>
                    </a:solidFill>
                    <a:lnB w="9525" cap="flat" cmpd="sng" algn="ctr">
                      <a:solidFill>
                        <a:srgbClr val="13314B"/>
                      </a:solidFill>
                      <a:prstDash val="solid"/>
                    </a:lnB>
                  </a:tcPr>
                </a:tc>
                <a:tc>
                  <a:txBody>
                    <a:bodyPr wrap="square"/>
                    <a:lstStyle/>
                    <a:p>
                      <a:pPr algn="l">
                        <a:lnSpc>
                          <a:spcPct val="108000"/>
                        </a:lnSpc>
                      </a:pPr>
                      <a:r>
                        <a:rPr sz="1100" b="1">
                          <a:solidFill>
                            <a:srgbClr val="FFFFFF"/>
                          </a:solidFill>
                          <a:latin typeface="Calibri"/>
                        </a:rPr>
                        <a:t>Objetivo</a:t>
                      </a:r>
                    </a:p>
                  </a:txBody>
                  <a:tcPr marL="91440" marR="91440" marT="41148" marB="41148" anchor="ctr">
                    <a:solidFill>
                      <a:srgbClr val="13314B"/>
                    </a:solidFill>
                    <a:lnB w="9525" cap="flat" cmpd="sng" algn="ctr">
                      <a:solidFill>
                        <a:srgbClr val="13314B"/>
                      </a:solidFill>
                      <a:prstDash val="solid"/>
                    </a:lnB>
                  </a:tcPr>
                </a:tc>
                <a:tc>
                  <a:txBody>
                    <a:bodyPr wrap="square"/>
                    <a:lstStyle/>
                    <a:p>
                      <a:pPr algn="l">
                        <a:lnSpc>
                          <a:spcPct val="108000"/>
                        </a:lnSpc>
                      </a:pPr>
                      <a:r>
                        <a:rPr sz="1100" b="1">
                          <a:solidFill>
                            <a:srgbClr val="FFFFFF"/>
                          </a:solidFill>
                          <a:latin typeface="Calibri"/>
                        </a:rPr>
                        <a:t>Hito</a:t>
                      </a:r>
                    </a:p>
                  </a:txBody>
                  <a:tcPr marL="91440" marR="91440" marT="41148" marB="41148" anchor="ctr">
                    <a:solidFill>
                      <a:srgbClr val="13314B"/>
                    </a:solidFill>
                    <a:lnB w="9525" cap="flat" cmpd="sng" algn="ctr">
                      <a:solidFill>
                        <a:srgbClr val="13314B"/>
                      </a:solidFill>
                      <a:prstDash val="solid"/>
                    </a:lnB>
                  </a:tcPr>
                </a:tc>
              </a:tr>
              <a:tr h="384048">
                <a:tc>
                  <a:txBody>
                    <a:bodyPr wrap="square"/>
                    <a:lstStyle/>
                    <a:p>
                      <a:pPr algn="ctr">
                        <a:lnSpc>
                          <a:spcPct val="108000"/>
                        </a:lnSpc>
                      </a:pPr>
                      <a:r>
                        <a:rPr sz="1100" b="1">
                          <a:solidFill>
                            <a:srgbClr val="1B5EA8"/>
                          </a:solidFill>
                          <a:latin typeface="Calibri"/>
                        </a:rPr>
                        <a:t>0</a:t>
                      </a:r>
                    </a:p>
                  </a:txBody>
                  <a:tcPr marL="91440" marR="91440" marT="41148" marB="41148" anchor="ctr">
                    <a:solidFill>
                      <a:srgbClr val="FFFFFF"/>
                    </a:solidFill>
                    <a:lnB w="9525" cap="flat" cmpd="sng" algn="ctr">
                      <a:solidFill>
                        <a:srgbClr val="D5DDE5"/>
                      </a:solidFill>
                      <a:prstDash val="solid"/>
                    </a:lnB>
                  </a:tcPr>
                </a:tc>
                <a:tc>
                  <a:txBody>
                    <a:bodyPr wrap="square"/>
                    <a:lstStyle/>
                    <a:p>
                      <a:pPr algn="ctr">
                        <a:lnSpc>
                          <a:spcPct val="108000"/>
                        </a:lnSpc>
                      </a:pPr>
                      <a:r>
                        <a:rPr sz="1100" b="1">
                          <a:solidFill>
                            <a:srgbClr val="1E7A5A"/>
                          </a:solidFill>
                          <a:latin typeface="Calibri"/>
                        </a:rPr>
                        <a:t>Cerrado</a:t>
                      </a:r>
                    </a:p>
                  </a:txBody>
                  <a:tcPr marL="91440" marR="91440" marT="41148" marB="41148" anchor="ctr">
                    <a:solidFill>
                      <a:srgbClr val="FFFFFF"/>
                    </a:solidFill>
                    <a:lnB w="9525" cap="flat" cmpd="sng" algn="ctr">
                      <a:solidFill>
                        <a:srgbClr val="D5DDE5"/>
                      </a:solidFill>
                      <a:prstDash val="solid"/>
                    </a:lnB>
                  </a:tcPr>
                </a:tc>
                <a:tc>
                  <a:txBody>
                    <a:bodyPr wrap="square"/>
                    <a:lstStyle/>
                    <a:p>
                      <a:pPr algn="l">
                        <a:lnSpc>
                          <a:spcPct val="108000"/>
                        </a:lnSpc>
                      </a:pPr>
                      <a:r>
                        <a:rPr sz="1100" b="0">
                          <a:solidFill>
                            <a:srgbClr val="5A6774"/>
                          </a:solidFill>
                          <a:latin typeface="Calibri"/>
                        </a:rPr>
                        <a:t>05/08 al 12/08</a:t>
                      </a:r>
                    </a:p>
                  </a:txBody>
                  <a:tcPr marL="91440" marR="91440" marT="41148" marB="41148" anchor="ctr">
                    <a:solidFill>
                      <a:srgbClr val="FFFFFF"/>
                    </a:solidFill>
                    <a:lnB w="9525" cap="flat" cmpd="sng" algn="ctr">
                      <a:solidFill>
                        <a:srgbClr val="D5DDE5"/>
                      </a:solidFill>
                      <a:prstDash val="solid"/>
                    </a:lnB>
                  </a:tcPr>
                </a:tc>
                <a:tc>
                  <a:txBody>
                    <a:bodyPr wrap="square"/>
                    <a:lstStyle/>
                    <a:p>
                      <a:pPr algn="l">
                        <a:lnSpc>
                          <a:spcPct val="108000"/>
                        </a:lnSpc>
                      </a:pPr>
                      <a:r>
                        <a:rPr sz="1100" b="0">
                          <a:solidFill>
                            <a:srgbClr val="0F2438"/>
                          </a:solidFill>
                          <a:latin typeface="Calibri"/>
                        </a:rPr>
                        <a:t>Entender la necesidad y cerrar el alcance</a:t>
                      </a:r>
                    </a:p>
                  </a:txBody>
                  <a:tcPr marL="91440" marR="91440" marT="41148" marB="41148" anchor="ctr">
                    <a:solidFill>
                      <a:srgbClr val="FFFFFF"/>
                    </a:solidFill>
                    <a:lnB w="9525" cap="flat" cmpd="sng" algn="ctr">
                      <a:solidFill>
                        <a:srgbClr val="D5DDE5"/>
                      </a:solidFill>
                      <a:prstDash val="solid"/>
                    </a:lnB>
                  </a:tcPr>
                </a:tc>
                <a:tc>
                  <a:txBody>
                    <a:bodyPr wrap="square"/>
                    <a:lstStyle/>
                    <a:p>
                      <a:pPr algn="l">
                        <a:lnSpc>
                          <a:spcPct val="108000"/>
                        </a:lnSpc>
                      </a:pPr>
                      <a:r>
                        <a:rPr sz="1100" b="0">
                          <a:solidFill>
                            <a:srgbClr val="0F2438"/>
                          </a:solidFill>
                          <a:latin typeface="Calibri"/>
                        </a:rPr>
                        <a:t>H1 Alcance aprobado, 12 ago</a:t>
                      </a:r>
                    </a:p>
                  </a:txBody>
                  <a:tcPr marL="91440" marR="91440" marT="41148" marB="41148" anchor="ctr">
                    <a:solidFill>
                      <a:srgbClr val="FFFFFF"/>
                    </a:solidFill>
                    <a:lnB w="9525" cap="flat" cmpd="sng" algn="ctr">
                      <a:solidFill>
                        <a:srgbClr val="D5DDE5"/>
                      </a:solidFill>
                      <a:prstDash val="solid"/>
                    </a:lnB>
                  </a:tcPr>
                </a:tc>
              </a:tr>
              <a:tr h="384048">
                <a:tc>
                  <a:txBody>
                    <a:bodyPr wrap="square"/>
                    <a:lstStyle/>
                    <a:p>
                      <a:pPr algn="ctr">
                        <a:lnSpc>
                          <a:spcPct val="108000"/>
                        </a:lnSpc>
                      </a:pPr>
                      <a:r>
                        <a:rPr sz="1100" b="1">
                          <a:solidFill>
                            <a:srgbClr val="1B5EA8"/>
                          </a:solidFill>
                          <a:latin typeface="Calibri"/>
                        </a:rPr>
                        <a:t>1</a:t>
                      </a:r>
                    </a:p>
                  </a:txBody>
                  <a:tcPr marL="91440" marR="91440" marT="41148" marB="41148" anchor="ctr">
                    <a:solidFill>
                      <a:srgbClr val="F6F8FA"/>
                    </a:solidFill>
                    <a:lnB w="9525" cap="flat" cmpd="sng" algn="ctr">
                      <a:solidFill>
                        <a:srgbClr val="D5DDE5"/>
                      </a:solidFill>
                      <a:prstDash val="solid"/>
                    </a:lnB>
                  </a:tcPr>
                </a:tc>
                <a:tc>
                  <a:txBody>
                    <a:bodyPr wrap="square"/>
                    <a:lstStyle/>
                    <a:p>
                      <a:pPr algn="ctr">
                        <a:lnSpc>
                          <a:spcPct val="108000"/>
                        </a:lnSpc>
                      </a:pPr>
                      <a:r>
                        <a:rPr sz="1100" b="1">
                          <a:solidFill>
                            <a:srgbClr val="1E7A5A"/>
                          </a:solidFill>
                          <a:latin typeface="Calibri"/>
                        </a:rPr>
                        <a:t>Cerrado</a:t>
                      </a:r>
                    </a:p>
                  </a:txBody>
                  <a:tcPr marL="91440" marR="91440" marT="41148" marB="41148" anchor="ctr">
                    <a:solidFill>
                      <a:srgbClr val="F6F8FA"/>
                    </a:solidFill>
                    <a:lnB w="9525" cap="flat" cmpd="sng" algn="ctr">
                      <a:solidFill>
                        <a:srgbClr val="D5DDE5"/>
                      </a:solidFill>
                      <a:prstDash val="solid"/>
                    </a:lnB>
                  </a:tcPr>
                </a:tc>
                <a:tc>
                  <a:txBody>
                    <a:bodyPr wrap="square"/>
                    <a:lstStyle/>
                    <a:p>
                      <a:pPr algn="l">
                        <a:lnSpc>
                          <a:spcPct val="108000"/>
                        </a:lnSpc>
                      </a:pPr>
                      <a:r>
                        <a:rPr sz="1100" b="0">
                          <a:solidFill>
                            <a:srgbClr val="5A6774"/>
                          </a:solidFill>
                          <a:latin typeface="Calibri"/>
                        </a:rPr>
                        <a:t>13/08 al 26/08</a:t>
                      </a:r>
                    </a:p>
                  </a:txBody>
                  <a:tcPr marL="91440" marR="91440" marT="41148" marB="41148" anchor="ctr">
                    <a:solidFill>
                      <a:srgbClr val="F6F8FA"/>
                    </a:solidFill>
                    <a:lnB w="9525" cap="flat" cmpd="sng" algn="ctr">
                      <a:solidFill>
                        <a:srgbClr val="D5DDE5"/>
                      </a:solidFill>
                      <a:prstDash val="solid"/>
                    </a:lnB>
                  </a:tcPr>
                </a:tc>
                <a:tc>
                  <a:txBody>
                    <a:bodyPr wrap="square"/>
                    <a:lstStyle/>
                    <a:p>
                      <a:pPr algn="l">
                        <a:lnSpc>
                          <a:spcPct val="108000"/>
                        </a:lnSpc>
                      </a:pPr>
                      <a:r>
                        <a:rPr sz="1100" b="0">
                          <a:solidFill>
                            <a:srgbClr val="0F2438"/>
                          </a:solidFill>
                          <a:latin typeface="Calibri"/>
                        </a:rPr>
                        <a:t>Estructurar los procedimientos y montar la base vectorial</a:t>
                      </a:r>
                    </a:p>
                  </a:txBody>
                  <a:tcPr marL="91440" marR="91440" marT="41148" marB="41148" anchor="ctr">
                    <a:solidFill>
                      <a:srgbClr val="F6F8FA"/>
                    </a:solidFill>
                    <a:lnB w="9525" cap="flat" cmpd="sng" algn="ctr">
                      <a:solidFill>
                        <a:srgbClr val="D5DDE5"/>
                      </a:solidFill>
                      <a:prstDash val="solid"/>
                    </a:lnB>
                  </a:tcPr>
                </a:tc>
                <a:tc>
                  <a:txBody>
                    <a:bodyPr wrap="square"/>
                    <a:lstStyle/>
                    <a:p>
                      <a:pPr algn="l">
                        <a:lnSpc>
                          <a:spcPct val="108000"/>
                        </a:lnSpc>
                      </a:pPr>
                      <a:r>
                        <a:rPr sz="1100" b="0">
                          <a:solidFill>
                            <a:srgbClr val="0F2438"/>
                          </a:solidFill>
                          <a:latin typeface="Calibri"/>
                        </a:rPr>
                        <a:t>H2 Conocimiento consultable, 26 ago</a:t>
                      </a:r>
                    </a:p>
                  </a:txBody>
                  <a:tcPr marL="91440" marR="91440" marT="41148" marB="41148" anchor="ctr">
                    <a:solidFill>
                      <a:srgbClr val="F6F8FA"/>
                    </a:solidFill>
                    <a:lnB w="9525" cap="flat" cmpd="sng" algn="ctr">
                      <a:solidFill>
                        <a:srgbClr val="D5DDE5"/>
                      </a:solidFill>
                      <a:prstDash val="solid"/>
                    </a:lnB>
                  </a:tcPr>
                </a:tc>
              </a:tr>
              <a:tr h="384048">
                <a:tc>
                  <a:txBody>
                    <a:bodyPr wrap="square"/>
                    <a:lstStyle/>
                    <a:p>
                      <a:pPr algn="ctr">
                        <a:lnSpc>
                          <a:spcPct val="108000"/>
                        </a:lnSpc>
                      </a:pPr>
                      <a:r>
                        <a:rPr sz="1100" b="1">
                          <a:solidFill>
                            <a:srgbClr val="1B5EA8"/>
                          </a:solidFill>
                          <a:latin typeface="Calibri"/>
                        </a:rPr>
                        <a:t>2</a:t>
                      </a:r>
                    </a:p>
                  </a:txBody>
                  <a:tcPr marL="91440" marR="91440" marT="41148" marB="41148" anchor="ctr">
                    <a:solidFill>
                      <a:srgbClr val="FFFFFF"/>
                    </a:solidFill>
                    <a:lnB w="9525" cap="flat" cmpd="sng" algn="ctr">
                      <a:solidFill>
                        <a:srgbClr val="D5DDE5"/>
                      </a:solidFill>
                      <a:prstDash val="solid"/>
                    </a:lnB>
                  </a:tcPr>
                </a:tc>
                <a:tc>
                  <a:txBody>
                    <a:bodyPr wrap="square"/>
                    <a:lstStyle/>
                    <a:p>
                      <a:pPr algn="ctr">
                        <a:lnSpc>
                          <a:spcPct val="108000"/>
                        </a:lnSpc>
                      </a:pPr>
                      <a:r>
                        <a:rPr sz="1100" b="1">
                          <a:solidFill>
                            <a:srgbClr val="1B5EA8"/>
                          </a:solidFill>
                          <a:latin typeface="Calibri"/>
                        </a:rPr>
                        <a:t>En curso</a:t>
                      </a:r>
                    </a:p>
                  </a:txBody>
                  <a:tcPr marL="91440" marR="91440" marT="41148" marB="41148" anchor="ctr">
                    <a:solidFill>
                      <a:srgbClr val="FFFFFF"/>
                    </a:solidFill>
                    <a:lnB w="9525" cap="flat" cmpd="sng" algn="ctr">
                      <a:solidFill>
                        <a:srgbClr val="D5DDE5"/>
                      </a:solidFill>
                      <a:prstDash val="solid"/>
                    </a:lnB>
                  </a:tcPr>
                </a:tc>
                <a:tc>
                  <a:txBody>
                    <a:bodyPr wrap="square"/>
                    <a:lstStyle/>
                    <a:p>
                      <a:pPr algn="l">
                        <a:lnSpc>
                          <a:spcPct val="108000"/>
                        </a:lnSpc>
                      </a:pPr>
                      <a:r>
                        <a:rPr sz="1100" b="0">
                          <a:solidFill>
                            <a:srgbClr val="5A6774"/>
                          </a:solidFill>
                          <a:latin typeface="Calibri"/>
                        </a:rPr>
                        <a:t>27/08 al 09/09</a:t>
                      </a:r>
                    </a:p>
                  </a:txBody>
                  <a:tcPr marL="91440" marR="91440" marT="41148" marB="41148" anchor="ctr">
                    <a:solidFill>
                      <a:srgbClr val="FFFFFF"/>
                    </a:solidFill>
                    <a:lnB w="9525" cap="flat" cmpd="sng" algn="ctr">
                      <a:solidFill>
                        <a:srgbClr val="D5DDE5"/>
                      </a:solidFill>
                      <a:prstDash val="solid"/>
                    </a:lnB>
                  </a:tcPr>
                </a:tc>
                <a:tc>
                  <a:txBody>
                    <a:bodyPr wrap="square"/>
                    <a:lstStyle/>
                    <a:p>
                      <a:pPr algn="l">
                        <a:lnSpc>
                          <a:spcPct val="108000"/>
                        </a:lnSpc>
                      </a:pPr>
                      <a:r>
                        <a:rPr sz="1100" b="0">
                          <a:solidFill>
                            <a:srgbClr val="0F2438"/>
                          </a:solidFill>
                          <a:latin typeface="Calibri"/>
                        </a:rPr>
                        <a:t>Construir el servicio de consulta y la recuperación</a:t>
                      </a:r>
                    </a:p>
                  </a:txBody>
                  <a:tcPr marL="91440" marR="91440" marT="41148" marB="41148" anchor="ctr">
                    <a:solidFill>
                      <a:srgbClr val="FFFFFF"/>
                    </a:solidFill>
                    <a:lnB w="9525" cap="flat" cmpd="sng" algn="ctr">
                      <a:solidFill>
                        <a:srgbClr val="D5DDE5"/>
                      </a:solidFill>
                      <a:prstDash val="solid"/>
                    </a:lnB>
                  </a:tcPr>
                </a:tc>
                <a:tc>
                  <a:txBody>
                    <a:bodyPr wrap="square"/>
                    <a:lstStyle/>
                    <a:p>
                      <a:pPr algn="l">
                        <a:lnSpc>
                          <a:spcPct val="108000"/>
                        </a:lnSpc>
                      </a:pPr>
                      <a:r>
                        <a:rPr sz="1100" b="1">
                          <a:solidFill>
                            <a:srgbClr val="1B5EA8"/>
                          </a:solidFill>
                          <a:latin typeface="Calibri"/>
                        </a:rPr>
                        <a:t>H3 Primera respuesta completa, 09 sep</a:t>
                      </a:r>
                    </a:p>
                  </a:txBody>
                  <a:tcPr marL="91440" marR="91440" marT="41148" marB="41148" anchor="ctr">
                    <a:solidFill>
                      <a:srgbClr val="FFFFFF"/>
                    </a:solidFill>
                    <a:lnB w="9525" cap="flat" cmpd="sng" algn="ctr">
                      <a:solidFill>
                        <a:srgbClr val="D5DDE5"/>
                      </a:solidFill>
                      <a:prstDash val="solid"/>
                    </a:lnB>
                  </a:tcPr>
                </a:tc>
              </a:tr>
              <a:tr h="384048">
                <a:tc>
                  <a:txBody>
                    <a:bodyPr wrap="square"/>
                    <a:lstStyle/>
                    <a:p>
                      <a:pPr algn="ctr">
                        <a:lnSpc>
                          <a:spcPct val="108000"/>
                        </a:lnSpc>
                      </a:pPr>
                      <a:r>
                        <a:rPr sz="1100" b="1">
                          <a:solidFill>
                            <a:srgbClr val="1B5EA8"/>
                          </a:solidFill>
                          <a:latin typeface="Calibri"/>
                        </a:rPr>
                        <a:t>3</a:t>
                      </a:r>
                    </a:p>
                  </a:txBody>
                  <a:tcPr marL="91440" marR="91440" marT="41148" marB="41148" anchor="ctr">
                    <a:solidFill>
                      <a:srgbClr val="F6F8FA"/>
                    </a:solidFill>
                    <a:lnB w="9525" cap="flat" cmpd="sng" algn="ctr">
                      <a:solidFill>
                        <a:srgbClr val="D5DDE5"/>
                      </a:solidFill>
                      <a:prstDash val="solid"/>
                    </a:lnB>
                  </a:tcPr>
                </a:tc>
                <a:tc>
                  <a:txBody>
                    <a:bodyPr wrap="square"/>
                    <a:lstStyle/>
                    <a:p>
                      <a:pPr algn="ctr">
                        <a:lnSpc>
                          <a:spcPct val="108000"/>
                        </a:lnSpc>
                      </a:pPr>
                      <a:r>
                        <a:rPr sz="1100" b="1">
                          <a:solidFill>
                            <a:srgbClr val="8C99A6"/>
                          </a:solidFill>
                          <a:latin typeface="Calibri"/>
                        </a:rPr>
                        <a:t>Pendiente</a:t>
                      </a:r>
                    </a:p>
                  </a:txBody>
                  <a:tcPr marL="91440" marR="91440" marT="41148" marB="41148" anchor="ctr">
                    <a:solidFill>
                      <a:srgbClr val="F6F8FA"/>
                    </a:solidFill>
                    <a:lnB w="9525" cap="flat" cmpd="sng" algn="ctr">
                      <a:solidFill>
                        <a:srgbClr val="D5DDE5"/>
                      </a:solidFill>
                      <a:prstDash val="solid"/>
                    </a:lnB>
                  </a:tcPr>
                </a:tc>
                <a:tc>
                  <a:txBody>
                    <a:bodyPr wrap="square"/>
                    <a:lstStyle/>
                    <a:p>
                      <a:pPr algn="l">
                        <a:lnSpc>
                          <a:spcPct val="108000"/>
                        </a:lnSpc>
                      </a:pPr>
                      <a:r>
                        <a:rPr sz="1100" b="0">
                          <a:solidFill>
                            <a:srgbClr val="5A6774"/>
                          </a:solidFill>
                          <a:latin typeface="Calibri"/>
                        </a:rPr>
                        <a:t>10/09 al 23/09</a:t>
                      </a:r>
                    </a:p>
                  </a:txBody>
                  <a:tcPr marL="91440" marR="91440" marT="41148" marB="41148" anchor="ctr">
                    <a:solidFill>
                      <a:srgbClr val="F6F8FA"/>
                    </a:solidFill>
                    <a:lnB w="9525" cap="flat" cmpd="sng" algn="ctr">
                      <a:solidFill>
                        <a:srgbClr val="D5DDE5"/>
                      </a:solidFill>
                      <a:prstDash val="solid"/>
                    </a:lnB>
                  </a:tcPr>
                </a:tc>
                <a:tc>
                  <a:txBody>
                    <a:bodyPr wrap="square"/>
                    <a:lstStyle/>
                    <a:p>
                      <a:pPr algn="l">
                        <a:lnSpc>
                          <a:spcPct val="108000"/>
                        </a:lnSpc>
                      </a:pPr>
                      <a:r>
                        <a:rPr sz="1100" b="0">
                          <a:solidFill>
                            <a:srgbClr val="0F2438"/>
                          </a:solidFill>
                          <a:latin typeface="Calibri"/>
                        </a:rPr>
                        <a:t>Construir la interfaz web y conectarla al servicio</a:t>
                      </a:r>
                    </a:p>
                  </a:txBody>
                  <a:tcPr marL="91440" marR="91440" marT="41148" marB="41148" anchor="ctr">
                    <a:solidFill>
                      <a:srgbClr val="F6F8FA"/>
                    </a:solidFill>
                    <a:lnB w="9525" cap="flat" cmpd="sng" algn="ctr">
                      <a:solidFill>
                        <a:srgbClr val="D5DDE5"/>
                      </a:solidFill>
                      <a:prstDash val="solid"/>
                    </a:lnB>
                  </a:tcPr>
                </a:tc>
                <a:tc>
                  <a:txBody>
                    <a:bodyPr wrap="square"/>
                    <a:lstStyle/>
                    <a:p>
                      <a:pPr algn="l">
                        <a:lnSpc>
                          <a:spcPct val="108000"/>
                        </a:lnSpc>
                      </a:pPr>
                      <a:r>
                        <a:rPr sz="1100" b="0">
                          <a:solidFill>
                            <a:srgbClr val="0F2438"/>
                          </a:solidFill>
                          <a:latin typeface="Calibri"/>
                        </a:rPr>
                        <a:t>H4 Producto usable, 23 sep</a:t>
                      </a:r>
                    </a:p>
                  </a:txBody>
                  <a:tcPr marL="91440" marR="91440" marT="41148" marB="41148" anchor="ctr">
                    <a:solidFill>
                      <a:srgbClr val="F6F8FA"/>
                    </a:solidFill>
                    <a:lnB w="9525" cap="flat" cmpd="sng" algn="ctr">
                      <a:solidFill>
                        <a:srgbClr val="D5DDE5"/>
                      </a:solidFill>
                      <a:prstDash val="solid"/>
                    </a:lnB>
                  </a:tcPr>
                </a:tc>
              </a:tr>
              <a:tr h="384048">
                <a:tc>
                  <a:txBody>
                    <a:bodyPr wrap="square"/>
                    <a:lstStyle/>
                    <a:p>
                      <a:pPr algn="ctr">
                        <a:lnSpc>
                          <a:spcPct val="108000"/>
                        </a:lnSpc>
                      </a:pPr>
                      <a:r>
                        <a:rPr sz="1100" b="1">
                          <a:solidFill>
                            <a:srgbClr val="1B5EA8"/>
                          </a:solidFill>
                          <a:latin typeface="Calibri"/>
                        </a:rPr>
                        <a:t>4</a:t>
                      </a:r>
                    </a:p>
                  </a:txBody>
                  <a:tcPr marL="91440" marR="91440" marT="41148" marB="41148" anchor="ctr">
                    <a:solidFill>
                      <a:srgbClr val="FFFFFF"/>
                    </a:solidFill>
                    <a:lnB w="9525" cap="flat" cmpd="sng" algn="ctr">
                      <a:solidFill>
                        <a:srgbClr val="D5DDE5"/>
                      </a:solidFill>
                      <a:prstDash val="solid"/>
                    </a:lnB>
                  </a:tcPr>
                </a:tc>
                <a:tc>
                  <a:txBody>
                    <a:bodyPr wrap="square"/>
                    <a:lstStyle/>
                    <a:p>
                      <a:pPr algn="ctr">
                        <a:lnSpc>
                          <a:spcPct val="108000"/>
                        </a:lnSpc>
                      </a:pPr>
                      <a:r>
                        <a:rPr sz="1100" b="1">
                          <a:solidFill>
                            <a:srgbClr val="8C99A6"/>
                          </a:solidFill>
                          <a:latin typeface="Calibri"/>
                        </a:rPr>
                        <a:t>Pendiente</a:t>
                      </a:r>
                    </a:p>
                  </a:txBody>
                  <a:tcPr marL="91440" marR="91440" marT="41148" marB="41148" anchor="ctr">
                    <a:solidFill>
                      <a:srgbClr val="FFFFFF"/>
                    </a:solidFill>
                    <a:lnB w="9525" cap="flat" cmpd="sng" algn="ctr">
                      <a:solidFill>
                        <a:srgbClr val="D5DDE5"/>
                      </a:solidFill>
                      <a:prstDash val="solid"/>
                    </a:lnB>
                  </a:tcPr>
                </a:tc>
                <a:tc>
                  <a:txBody>
                    <a:bodyPr wrap="square"/>
                    <a:lstStyle/>
                    <a:p>
                      <a:pPr algn="l">
                        <a:lnSpc>
                          <a:spcPct val="108000"/>
                        </a:lnSpc>
                      </a:pPr>
                      <a:r>
                        <a:rPr sz="1100" b="0">
                          <a:solidFill>
                            <a:srgbClr val="5A6774"/>
                          </a:solidFill>
                          <a:latin typeface="Calibri"/>
                        </a:rPr>
                        <a:t>24/09 al 07/10</a:t>
                      </a:r>
                    </a:p>
                  </a:txBody>
                  <a:tcPr marL="91440" marR="91440" marT="41148" marB="41148" anchor="ctr">
                    <a:solidFill>
                      <a:srgbClr val="FFFFFF"/>
                    </a:solidFill>
                    <a:lnB w="9525" cap="flat" cmpd="sng" algn="ctr">
                      <a:solidFill>
                        <a:srgbClr val="D5DDE5"/>
                      </a:solidFill>
                      <a:prstDash val="solid"/>
                    </a:lnB>
                  </a:tcPr>
                </a:tc>
                <a:tc>
                  <a:txBody>
                    <a:bodyPr wrap="square"/>
                    <a:lstStyle/>
                    <a:p>
                      <a:pPr algn="l">
                        <a:lnSpc>
                          <a:spcPct val="108000"/>
                        </a:lnSpc>
                      </a:pPr>
                      <a:r>
                        <a:rPr sz="1100" b="0">
                          <a:solidFill>
                            <a:srgbClr val="0F2438"/>
                          </a:solidFill>
                          <a:latin typeface="Calibri"/>
                        </a:rPr>
                        <a:t>Medir y mejorar la calidad de las respuestas</a:t>
                      </a:r>
                    </a:p>
                  </a:txBody>
                  <a:tcPr marL="91440" marR="91440" marT="41148" marB="41148" anchor="ctr">
                    <a:solidFill>
                      <a:srgbClr val="FFFFFF"/>
                    </a:solidFill>
                    <a:lnB w="9525" cap="flat" cmpd="sng" algn="ctr">
                      <a:solidFill>
                        <a:srgbClr val="D5DDE5"/>
                      </a:solidFill>
                      <a:prstDash val="solid"/>
                    </a:lnB>
                  </a:tcPr>
                </a:tc>
                <a:tc>
                  <a:txBody>
                    <a:bodyPr wrap="square"/>
                    <a:lstStyle/>
                    <a:p>
                      <a:pPr algn="l">
                        <a:lnSpc>
                          <a:spcPct val="108000"/>
                        </a:lnSpc>
                      </a:pPr>
                      <a:r>
                        <a:rPr sz="1100" b="0">
                          <a:solidFill>
                            <a:srgbClr val="0F2438"/>
                          </a:solidFill>
                          <a:latin typeface="Calibri"/>
                        </a:rPr>
                        <a:t>H5 Calidad verificada, 07 oct</a:t>
                      </a:r>
                    </a:p>
                  </a:txBody>
                  <a:tcPr marL="91440" marR="91440" marT="41148" marB="41148" anchor="ctr">
                    <a:solidFill>
                      <a:srgbClr val="FFFFFF"/>
                    </a:solidFill>
                    <a:lnB w="9525" cap="flat" cmpd="sng" algn="ctr">
                      <a:solidFill>
                        <a:srgbClr val="D5DDE5"/>
                      </a:solidFill>
                      <a:prstDash val="solid"/>
                    </a:lnB>
                  </a:tcPr>
                </a:tc>
              </a:tr>
              <a:tr h="384048">
                <a:tc>
                  <a:txBody>
                    <a:bodyPr wrap="square"/>
                    <a:lstStyle/>
                    <a:p>
                      <a:pPr algn="ctr">
                        <a:lnSpc>
                          <a:spcPct val="108000"/>
                        </a:lnSpc>
                      </a:pPr>
                      <a:r>
                        <a:rPr sz="1100" b="1">
                          <a:solidFill>
                            <a:srgbClr val="1B5EA8"/>
                          </a:solidFill>
                          <a:latin typeface="Calibri"/>
                        </a:rPr>
                        <a:t>5</a:t>
                      </a:r>
                    </a:p>
                  </a:txBody>
                  <a:tcPr marL="91440" marR="91440" marT="41148" marB="41148" anchor="ctr">
                    <a:solidFill>
                      <a:srgbClr val="F6F8FA"/>
                    </a:solidFill>
                    <a:lnB w="9525" cap="flat" cmpd="sng" algn="ctr">
                      <a:solidFill>
                        <a:srgbClr val="D5DDE5"/>
                      </a:solidFill>
                      <a:prstDash val="solid"/>
                    </a:lnB>
                  </a:tcPr>
                </a:tc>
                <a:tc>
                  <a:txBody>
                    <a:bodyPr wrap="square"/>
                    <a:lstStyle/>
                    <a:p>
                      <a:pPr algn="ctr">
                        <a:lnSpc>
                          <a:spcPct val="108000"/>
                        </a:lnSpc>
                      </a:pPr>
                      <a:r>
                        <a:rPr sz="1100" b="1">
                          <a:solidFill>
                            <a:srgbClr val="8C99A6"/>
                          </a:solidFill>
                          <a:latin typeface="Calibri"/>
                        </a:rPr>
                        <a:t>Pendiente</a:t>
                      </a:r>
                    </a:p>
                  </a:txBody>
                  <a:tcPr marL="91440" marR="91440" marT="41148" marB="41148" anchor="ctr">
                    <a:solidFill>
                      <a:srgbClr val="F6F8FA"/>
                    </a:solidFill>
                    <a:lnB w="9525" cap="flat" cmpd="sng" algn="ctr">
                      <a:solidFill>
                        <a:srgbClr val="D5DDE5"/>
                      </a:solidFill>
                      <a:prstDash val="solid"/>
                    </a:lnB>
                  </a:tcPr>
                </a:tc>
                <a:tc>
                  <a:txBody>
                    <a:bodyPr wrap="square"/>
                    <a:lstStyle/>
                    <a:p>
                      <a:pPr algn="l">
                        <a:lnSpc>
                          <a:spcPct val="108000"/>
                        </a:lnSpc>
                      </a:pPr>
                      <a:r>
                        <a:rPr sz="1100" b="0">
                          <a:solidFill>
                            <a:srgbClr val="5A6774"/>
                          </a:solidFill>
                          <a:latin typeface="Calibri"/>
                        </a:rPr>
                        <a:t>08/10 al 21/10</a:t>
                      </a:r>
                    </a:p>
                  </a:txBody>
                  <a:tcPr marL="91440" marR="91440" marT="41148" marB="41148" anchor="ctr">
                    <a:solidFill>
                      <a:srgbClr val="F6F8FA"/>
                    </a:solidFill>
                    <a:lnB w="9525" cap="flat" cmpd="sng" algn="ctr">
                      <a:solidFill>
                        <a:srgbClr val="D5DDE5"/>
                      </a:solidFill>
                      <a:prstDash val="solid"/>
                    </a:lnB>
                  </a:tcPr>
                </a:tc>
                <a:tc>
                  <a:txBody>
                    <a:bodyPr wrap="square"/>
                    <a:lstStyle/>
                    <a:p>
                      <a:pPr algn="l">
                        <a:lnSpc>
                          <a:spcPct val="108000"/>
                        </a:lnSpc>
                      </a:pPr>
                      <a:r>
                        <a:rPr sz="1100" b="0">
                          <a:solidFill>
                            <a:srgbClr val="0F2438"/>
                          </a:solidFill>
                          <a:latin typeface="Calibri"/>
                        </a:rPr>
                        <a:t>Desplegar, documentar y entregar</a:t>
                      </a:r>
                    </a:p>
                  </a:txBody>
                  <a:tcPr marL="91440" marR="91440" marT="41148" marB="41148" anchor="ctr">
                    <a:solidFill>
                      <a:srgbClr val="F6F8FA"/>
                    </a:solidFill>
                    <a:lnB w="9525" cap="flat" cmpd="sng" algn="ctr">
                      <a:solidFill>
                        <a:srgbClr val="D5DDE5"/>
                      </a:solidFill>
                      <a:prstDash val="solid"/>
                    </a:lnB>
                  </a:tcPr>
                </a:tc>
                <a:tc>
                  <a:txBody>
                    <a:bodyPr wrap="square"/>
                    <a:lstStyle/>
                    <a:p>
                      <a:pPr algn="l">
                        <a:lnSpc>
                          <a:spcPct val="108000"/>
                        </a:lnSpc>
                      </a:pPr>
                      <a:r>
                        <a:rPr sz="1100" b="0">
                          <a:solidFill>
                            <a:srgbClr val="0F2438"/>
                          </a:solidFill>
                          <a:latin typeface="Calibri"/>
                        </a:rPr>
                        <a:t>H6 Entrega final, 21 oct</a:t>
                      </a:r>
                    </a:p>
                  </a:txBody>
                  <a:tcPr marL="91440" marR="91440" marT="41148" marB="41148" anchor="ctr">
                    <a:solidFill>
                      <a:srgbClr val="F6F8FA"/>
                    </a:solidFill>
                    <a:lnB w="9525" cap="flat" cmpd="sng" algn="ctr">
                      <a:solidFill>
                        <a:srgbClr val="D5DDE5"/>
                      </a:solidFill>
                      <a:prstDash val="solid"/>
                    </a:lnB>
                  </a:tcPr>
                </a:tc>
              </a:tr>
            </a:tbl>
          </a:graphicData>
        </a:graphic>
      </p:graphicFrame>
      <p:sp>
        <p:nvSpPr>
          <p:cNvPr id="10" name="Rectangle 9"/>
          <p:cNvSpPr/>
          <p:nvPr/>
        </p:nvSpPr>
        <p:spPr>
          <a:xfrm>
            <a:off x="713232" y="5212080"/>
            <a:ext cx="10765231" cy="896112"/>
          </a:xfrm>
          <a:prstGeom prst="rect">
            <a:avLst/>
          </a:prstGeom>
          <a:solidFill>
            <a:srgbClr val="1331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320040" tIns="73152" bIns="73152"/>
          <a:lstStyle/>
          <a:p>
            <a:pPr algn="l">
              <a:lnSpc>
                <a:spcPct val="116000"/>
              </a:lnSpc>
              <a:spcBef>
                <a:spcPts val="0"/>
              </a:spcBef>
              <a:spcAft>
                <a:spcPts val="0"/>
              </a:spcAft>
            </a:pPr>
            <a:r>
              <a:rPr sz="1550" b="1" i="0">
                <a:solidFill>
                  <a:srgbClr val="FFFFFF"/>
                </a:solidFill>
                <a:latin typeface="Calibri"/>
              </a:rPr>
              <a:t>El alcance quedó aprobado el 12 de agosto, al cerrar el Sprint 0, y la propuesta del 31 de agosto lo recoge en el formato exigido. Hoy va corriendo el Sprint 2, que cierra el 9 de septiembre.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37744" cy="6858000"/>
          </a:xfrm>
          <a:prstGeom prst="rect">
            <a:avLst/>
          </a:prstGeom>
          <a:solidFill>
            <a:srgbClr val="1331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3" name="TextBox 2"/>
          <p:cNvSpPr txBox="1"/>
          <p:nvPr/>
        </p:nvSpPr>
        <p:spPr>
          <a:xfrm>
            <a:off x="713232" y="475488"/>
            <a:ext cx="10765231" cy="292608"/>
          </a:xfrm>
          <a:prstGeom prst="rect">
            <a:avLst/>
          </a:prstGeom>
          <a:noFill/>
        </p:spPr>
        <p:txBody>
          <a:bodyPr wrap="square" lIns="0" rIns="0" tIns="0" bIns="0">
            <a:spAutoFit/>
          </a:bodyPr>
          <a:lstStyle/>
          <a:p>
            <a:pPr algn="l">
              <a:lnSpc>
                <a:spcPct val="118000"/>
              </a:lnSpc>
              <a:spcBef>
                <a:spcPts val="0"/>
              </a:spcBef>
              <a:spcAft>
                <a:spcPts val="0"/>
              </a:spcAft>
            </a:pPr>
            <a:r>
              <a:rPr sz="1050" b="1" i="0" spc="160">
                <a:solidFill>
                  <a:srgbClr val="1B5EA8"/>
                </a:solidFill>
                <a:latin typeface="Calibri"/>
              </a:rPr>
              <a:t>03 ALCANCE</a:t>
            </a:r>
          </a:p>
        </p:txBody>
      </p:sp>
      <p:sp>
        <p:nvSpPr>
          <p:cNvPr id="4" name="TextBox 3"/>
          <p:cNvSpPr txBox="1"/>
          <p:nvPr/>
        </p:nvSpPr>
        <p:spPr>
          <a:xfrm>
            <a:off x="713232" y="804672"/>
            <a:ext cx="10765231" cy="566928"/>
          </a:xfrm>
          <a:prstGeom prst="rect">
            <a:avLst/>
          </a:prstGeom>
          <a:noFill/>
        </p:spPr>
        <p:txBody>
          <a:bodyPr wrap="square" lIns="0" rIns="0" tIns="0" bIns="0">
            <a:spAutoFit/>
          </a:bodyPr>
          <a:lstStyle/>
          <a:p>
            <a:pPr algn="l">
              <a:lnSpc>
                <a:spcPct val="102000"/>
              </a:lnSpc>
              <a:spcBef>
                <a:spcPts val="0"/>
              </a:spcBef>
              <a:spcAft>
                <a:spcPts val="0"/>
              </a:spcAft>
            </a:pPr>
            <a:r>
              <a:rPr sz="2900" b="1" i="0">
                <a:solidFill>
                  <a:srgbClr val="0F2438"/>
                </a:solidFill>
                <a:latin typeface="Calibri"/>
              </a:rPr>
              <a:t>Qué entra y qué queda fuera, uno de dos</a:t>
            </a:r>
          </a:p>
        </p:txBody>
      </p:sp>
      <p:sp>
        <p:nvSpPr>
          <p:cNvPr id="5" name="Rectangle 4"/>
          <p:cNvSpPr/>
          <p:nvPr/>
        </p:nvSpPr>
        <p:spPr>
          <a:xfrm>
            <a:off x="713232" y="1481328"/>
            <a:ext cx="1325880" cy="41148"/>
          </a:xfrm>
          <a:prstGeom prst="rect">
            <a:avLst/>
          </a:prstGeom>
          <a:solidFill>
            <a:srgbClr val="1B5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6" name="TextBox 5"/>
          <p:cNvSpPr txBox="1"/>
          <p:nvPr/>
        </p:nvSpPr>
        <p:spPr>
          <a:xfrm>
            <a:off x="713232" y="1627632"/>
            <a:ext cx="9258098" cy="384048"/>
          </a:xfrm>
          <a:prstGeom prst="rect">
            <a:avLst/>
          </a:prstGeom>
          <a:noFill/>
        </p:spPr>
        <p:txBody>
          <a:bodyPr wrap="square" lIns="0" rIns="0" tIns="0" bIns="0">
            <a:spAutoFit/>
          </a:bodyPr>
          <a:lstStyle/>
          <a:p>
            <a:pPr algn="l">
              <a:lnSpc>
                <a:spcPct val="122000"/>
              </a:lnSpc>
              <a:spcBef>
                <a:spcPts val="0"/>
              </a:spcBef>
              <a:spcAft>
                <a:spcPts val="0"/>
              </a:spcAft>
            </a:pPr>
            <a:r>
              <a:rPr sz="1350" b="0" i="0">
                <a:solidFill>
                  <a:srgbClr val="5A6774"/>
                </a:solidFill>
                <a:latin typeface="Calibri"/>
              </a:rPr>
              <a:t>El alcance va frente por frente. Lo que aparece en la columna de la derecha no hace parte del proyecto.</a:t>
            </a:r>
          </a:p>
        </p:txBody>
      </p:sp>
      <p:sp>
        <p:nvSpPr>
          <p:cNvPr id="7" name="TextBox 6"/>
          <p:cNvSpPr txBox="1"/>
          <p:nvPr/>
        </p:nvSpPr>
        <p:spPr>
          <a:xfrm>
            <a:off x="713232" y="6382512"/>
            <a:ext cx="7535661" cy="219456"/>
          </a:xfrm>
          <a:prstGeom prst="rect">
            <a:avLst/>
          </a:prstGeom>
          <a:noFill/>
        </p:spPr>
        <p:txBody>
          <a:bodyPr wrap="square" lIns="0" rIns="0" tIns="0" bIns="0">
            <a:spAutoFit/>
          </a:bodyPr>
          <a:lstStyle/>
          <a:p>
            <a:pPr algn="l">
              <a:lnSpc>
                <a:spcPct val="118000"/>
              </a:lnSpc>
              <a:spcBef>
                <a:spcPts val="0"/>
              </a:spcBef>
              <a:spcAft>
                <a:spcPts val="0"/>
              </a:spcAft>
            </a:pPr>
            <a:r>
              <a:rPr sz="900" b="0" i="0">
                <a:solidFill>
                  <a:srgbClr val="8C99A6"/>
                </a:solidFill>
                <a:latin typeface="Calibri"/>
              </a:rPr>
              <a:t>Knowledge Desk   |   Propuesta comercial 001   |   KD12</a:t>
            </a:r>
          </a:p>
        </p:txBody>
      </p:sp>
      <p:sp>
        <p:nvSpPr>
          <p:cNvPr id="8" name="TextBox 7"/>
          <p:cNvSpPr txBox="1"/>
          <p:nvPr/>
        </p:nvSpPr>
        <p:spPr>
          <a:xfrm>
            <a:off x="10381183" y="6382512"/>
            <a:ext cx="1097280" cy="219456"/>
          </a:xfrm>
          <a:prstGeom prst="rect">
            <a:avLst/>
          </a:prstGeom>
          <a:noFill/>
        </p:spPr>
        <p:txBody>
          <a:bodyPr wrap="square" lIns="0" rIns="0" tIns="0" bIns="0">
            <a:spAutoFit/>
          </a:bodyPr>
          <a:lstStyle/>
          <a:p>
            <a:pPr algn="r">
              <a:lnSpc>
                <a:spcPct val="118000"/>
              </a:lnSpc>
              <a:spcBef>
                <a:spcPts val="0"/>
              </a:spcBef>
              <a:spcAft>
                <a:spcPts val="0"/>
              </a:spcAft>
            </a:pPr>
            <a:r>
              <a:rPr sz="900" b="0" i="0">
                <a:solidFill>
                  <a:srgbClr val="8C99A6"/>
                </a:solidFill>
                <a:latin typeface="Calibri"/>
              </a:rPr>
              <a:t>5</a:t>
            </a:r>
          </a:p>
        </p:txBody>
      </p:sp>
      <p:graphicFrame>
        <p:nvGraphicFramePr>
          <p:cNvPr id="9" name="Table 8"/>
          <p:cNvGraphicFramePr>
            <a:graphicFrameLocks noGrp="1"/>
          </p:cNvGraphicFramePr>
          <p:nvPr/>
        </p:nvGraphicFramePr>
        <p:xfrm>
          <a:off x="713232" y="2340864"/>
          <a:ext cx="10765230" cy="3236976"/>
        </p:xfrm>
        <a:graphic>
          <a:graphicData uri="http://schemas.openxmlformats.org/drawingml/2006/table">
            <a:tbl>
              <a:tblPr>
                <a:tableStyleId>{2D5ABB26-0587-4C30-8999-92F81FD0307C}</a:tableStyleId>
              </a:tblPr>
              <a:tblGrid>
                <a:gridCol w="1874519"/>
                <a:gridCol w="4434840"/>
                <a:gridCol w="4455871"/>
              </a:tblGrid>
              <a:tr h="384048">
                <a:tc>
                  <a:txBody>
                    <a:bodyPr wrap="square"/>
                    <a:lstStyle/>
                    <a:p>
                      <a:pPr algn="l">
                        <a:lnSpc>
                          <a:spcPct val="108000"/>
                        </a:lnSpc>
                      </a:pPr>
                      <a:r>
                        <a:rPr sz="1050" b="1">
                          <a:solidFill>
                            <a:srgbClr val="FFFFFF"/>
                          </a:solidFill>
                          <a:latin typeface="Calibri"/>
                        </a:rPr>
                        <a:t>Frente</a:t>
                      </a:r>
                    </a:p>
                  </a:txBody>
                  <a:tcPr marL="100584" marR="100584" marT="41148" marB="41148" anchor="ctr">
                    <a:solidFill>
                      <a:srgbClr val="13314B"/>
                    </a:solidFill>
                    <a:lnB w="9525" cap="flat" cmpd="sng" algn="ctr">
                      <a:solidFill>
                        <a:srgbClr val="13314B"/>
                      </a:solidFill>
                      <a:prstDash val="solid"/>
                    </a:lnB>
                  </a:tcPr>
                </a:tc>
                <a:tc>
                  <a:txBody>
                    <a:bodyPr wrap="square"/>
                    <a:lstStyle/>
                    <a:p>
                      <a:pPr algn="l">
                        <a:lnSpc>
                          <a:spcPct val="108000"/>
                        </a:lnSpc>
                      </a:pPr>
                      <a:r>
                        <a:rPr sz="1050" b="1">
                          <a:solidFill>
                            <a:srgbClr val="FFFFFF"/>
                          </a:solidFill>
                          <a:latin typeface="Calibri"/>
                        </a:rPr>
                        <a:t>Incluye</a:t>
                      </a:r>
                    </a:p>
                  </a:txBody>
                  <a:tcPr marL="100584" marR="100584" marT="41148" marB="41148" anchor="ctr">
                    <a:solidFill>
                      <a:srgbClr val="13314B"/>
                    </a:solidFill>
                    <a:lnB w="9525" cap="flat" cmpd="sng" algn="ctr">
                      <a:solidFill>
                        <a:srgbClr val="13314B"/>
                      </a:solidFill>
                      <a:prstDash val="solid"/>
                    </a:lnB>
                  </a:tcPr>
                </a:tc>
                <a:tc>
                  <a:txBody>
                    <a:bodyPr wrap="square"/>
                    <a:lstStyle/>
                    <a:p>
                      <a:pPr algn="l">
                        <a:lnSpc>
                          <a:spcPct val="108000"/>
                        </a:lnSpc>
                      </a:pPr>
                      <a:r>
                        <a:rPr sz="1050" b="1">
                          <a:solidFill>
                            <a:srgbClr val="FFFFFF"/>
                          </a:solidFill>
                          <a:latin typeface="Calibri"/>
                        </a:rPr>
                        <a:t>No incluye</a:t>
                      </a:r>
                    </a:p>
                  </a:txBody>
                  <a:tcPr marL="100584" marR="100584" marT="41148" marB="41148" anchor="ctr">
                    <a:solidFill>
                      <a:srgbClr val="7A2A22"/>
                    </a:solidFill>
                    <a:lnB w="9525" cap="flat" cmpd="sng" algn="ctr">
                      <a:solidFill>
                        <a:srgbClr val="13314B"/>
                      </a:solidFill>
                      <a:prstDash val="solid"/>
                    </a:lnB>
                  </a:tcPr>
                </a:tc>
              </a:tr>
              <a:tr h="713232">
                <a:tc>
                  <a:txBody>
                    <a:bodyPr wrap="square"/>
                    <a:lstStyle/>
                    <a:p>
                      <a:pPr algn="l">
                        <a:lnSpc>
                          <a:spcPct val="108000"/>
                        </a:lnSpc>
                      </a:pPr>
                      <a:r>
                        <a:rPr sz="1000" b="1">
                          <a:solidFill>
                            <a:srgbClr val="0F2438"/>
                          </a:solidFill>
                          <a:latin typeface="Calibri"/>
                        </a:rPr>
                        <a:t>Origen del conocimiento</a:t>
                      </a:r>
                    </a:p>
                  </a:txBody>
                  <a:tcPr marL="100584" marR="100584" marT="41148" marB="41148" anchor="ctr">
                    <a:solidFill>
                      <a:srgbClr val="FFFFFF"/>
                    </a:solidFill>
                    <a:lnB w="9525" cap="flat" cmpd="sng" algn="ctr">
                      <a:solidFill>
                        <a:srgbClr val="D5DDE5"/>
                      </a:solidFill>
                      <a:prstDash val="solid"/>
                    </a:lnB>
                  </a:tcPr>
                </a:tc>
                <a:tc>
                  <a:txBody>
                    <a:bodyPr wrap="square"/>
                    <a:lstStyle/>
                    <a:p>
                      <a:pPr algn="l">
                        <a:lnSpc>
                          <a:spcPct val="108000"/>
                        </a:lnSpc>
                      </a:pPr>
                      <a:r>
                        <a:rPr sz="1000" b="0">
                          <a:solidFill>
                            <a:srgbClr val="0F2438"/>
                          </a:solidFill>
                          <a:latin typeface="Calibri"/>
                        </a:rPr>
                        <a:t>Los procedimientos ya escritos y aprobados por el área se estructuran a mano como artículos en formato JSON, uno por procedimiento, con un bloque de metadatos y el contenido repartido en secciones. Si algo cambia, se edita su artículo y se vuelve a indexar.</a:t>
                      </a:r>
                    </a:p>
                  </a:txBody>
                  <a:tcPr marL="100584" marR="100584" marT="41148" marB="41148" anchor="ctr">
                    <a:solidFill>
                      <a:srgbClr val="FFFFFF"/>
                    </a:solidFill>
                    <a:lnB w="9525" cap="flat" cmpd="sng" algn="ctr">
                      <a:solidFill>
                        <a:srgbClr val="D5DDE5"/>
                      </a:solidFill>
                      <a:prstDash val="solid"/>
                    </a:lnB>
                  </a:tcPr>
                </a:tc>
                <a:tc>
                  <a:txBody>
                    <a:bodyPr wrap="square"/>
                    <a:lstStyle/>
                    <a:p>
                      <a:pPr algn="l">
                        <a:lnSpc>
                          <a:spcPct val="108000"/>
                        </a:lnSpc>
                      </a:pPr>
                      <a:r>
                        <a:rPr sz="1000" b="0">
                          <a:solidFill>
                            <a:srgbClr val="5A6774"/>
                          </a:solidFill>
                          <a:latin typeface="Calibri"/>
                        </a:rPr>
                        <a:t>Formulario de carga ni subida de archivos. Digitalizar conocimiento que hoy solo exista de forma verbal. Conectar la herramienta a repositorios del cliente como SharePoint, Google Drive o la intranet.</a:t>
                      </a:r>
                    </a:p>
                  </a:txBody>
                  <a:tcPr marL="100584" marR="100584" marT="41148" marB="41148" anchor="ctr">
                    <a:solidFill>
                      <a:srgbClr val="FFFFFF"/>
                    </a:solidFill>
                    <a:lnB w="9525" cap="flat" cmpd="sng" algn="ctr">
                      <a:solidFill>
                        <a:srgbClr val="D5DDE5"/>
                      </a:solidFill>
                      <a:prstDash val="solid"/>
                    </a:lnB>
                  </a:tcPr>
                </a:tc>
              </a:tr>
              <a:tr h="713232">
                <a:tc>
                  <a:txBody>
                    <a:bodyPr wrap="square"/>
                    <a:lstStyle/>
                    <a:p>
                      <a:pPr algn="l">
                        <a:lnSpc>
                          <a:spcPct val="108000"/>
                        </a:lnSpc>
                      </a:pPr>
                      <a:r>
                        <a:rPr sz="1000" b="1">
                          <a:solidFill>
                            <a:srgbClr val="0F2438"/>
                          </a:solidFill>
                          <a:latin typeface="Calibri"/>
                        </a:rPr>
                        <a:t>Preparación del contenido</a:t>
                      </a:r>
                    </a:p>
                  </a:txBody>
                  <a:tcPr marL="100584" marR="100584" marT="41148" marB="41148" anchor="ctr">
                    <a:solidFill>
                      <a:srgbClr val="F6F8FA"/>
                    </a:solidFill>
                    <a:lnB w="9525" cap="flat" cmpd="sng" algn="ctr">
                      <a:solidFill>
                        <a:srgbClr val="D5DDE5"/>
                      </a:solidFill>
                      <a:prstDash val="solid"/>
                    </a:lnB>
                  </a:tcPr>
                </a:tc>
                <a:tc>
                  <a:txBody>
                    <a:bodyPr wrap="square"/>
                    <a:lstStyle/>
                    <a:p>
                      <a:pPr algn="l">
                        <a:lnSpc>
                          <a:spcPct val="108000"/>
                        </a:lnSpc>
                      </a:pPr>
                      <a:r>
                        <a:rPr sz="1000" b="0">
                          <a:solidFill>
                            <a:srgbClr val="0F2438"/>
                          </a:solidFill>
                          <a:latin typeface="Calibri"/>
                        </a:rPr>
                        <a:t>Cada artículo se divide en fragmentos, cada fragmento se clasifica por nivel de importancia y se convierte en un vector que representa su significado.</a:t>
                      </a:r>
                    </a:p>
                  </a:txBody>
                  <a:tcPr marL="100584" marR="100584" marT="41148" marB="41148" anchor="ctr">
                    <a:solidFill>
                      <a:srgbClr val="F6F8FA"/>
                    </a:solidFill>
                    <a:lnB w="9525" cap="flat" cmpd="sng" algn="ctr">
                      <a:solidFill>
                        <a:srgbClr val="D5DDE5"/>
                      </a:solidFill>
                      <a:prstDash val="solid"/>
                    </a:lnB>
                  </a:tcPr>
                </a:tc>
                <a:tc>
                  <a:txBody>
                    <a:bodyPr wrap="square"/>
                    <a:lstStyle/>
                    <a:p>
                      <a:pPr algn="l">
                        <a:lnSpc>
                          <a:spcPct val="108000"/>
                        </a:lnSpc>
                      </a:pPr>
                      <a:r>
                        <a:rPr sz="1000" b="0">
                          <a:solidFill>
                            <a:srgbClr val="5A6774"/>
                          </a:solidFill>
                          <a:latin typeface="Calibri"/>
                        </a:rPr>
                        <a:t>Extracción de texto desde archivos, reconocimiento óptico de caracteres para documentos escaneados y lectura de tablas complejas. El contenido entra ya escrito y estructurado, así que ese paso desaparece.</a:t>
                      </a:r>
                    </a:p>
                  </a:txBody>
                  <a:tcPr marL="100584" marR="100584" marT="41148" marB="41148" anchor="ctr">
                    <a:solidFill>
                      <a:srgbClr val="F6F8FA"/>
                    </a:solidFill>
                    <a:lnB w="9525" cap="flat" cmpd="sng" algn="ctr">
                      <a:solidFill>
                        <a:srgbClr val="D5DDE5"/>
                      </a:solidFill>
                      <a:prstDash val="solid"/>
                    </a:lnB>
                  </a:tcPr>
                </a:tc>
              </a:tr>
              <a:tr h="713232">
                <a:tc>
                  <a:txBody>
                    <a:bodyPr wrap="square"/>
                    <a:lstStyle/>
                    <a:p>
                      <a:pPr algn="l">
                        <a:lnSpc>
                          <a:spcPct val="108000"/>
                        </a:lnSpc>
                      </a:pPr>
                      <a:r>
                        <a:rPr sz="1000" b="1">
                          <a:solidFill>
                            <a:srgbClr val="0F2438"/>
                          </a:solidFill>
                          <a:latin typeface="Calibri"/>
                        </a:rPr>
                        <a:t>Almacenamiento</a:t>
                      </a:r>
                    </a:p>
                  </a:txBody>
                  <a:tcPr marL="100584" marR="100584" marT="41148" marB="41148" anchor="ctr">
                    <a:solidFill>
                      <a:srgbClr val="FFFFFF"/>
                    </a:solidFill>
                    <a:lnB w="9525" cap="flat" cmpd="sng" algn="ctr">
                      <a:solidFill>
                        <a:srgbClr val="D5DDE5"/>
                      </a:solidFill>
                      <a:prstDash val="solid"/>
                    </a:lnB>
                  </a:tcPr>
                </a:tc>
                <a:tc>
                  <a:txBody>
                    <a:bodyPr wrap="square"/>
                    <a:lstStyle/>
                    <a:p>
                      <a:pPr algn="l">
                        <a:lnSpc>
                          <a:spcPct val="108000"/>
                        </a:lnSpc>
                      </a:pPr>
                      <a:r>
                        <a:rPr sz="1000" b="0">
                          <a:solidFill>
                            <a:srgbClr val="0F2438"/>
                          </a:solidFill>
                          <a:latin typeface="Calibri"/>
                        </a:rPr>
                        <a:t>Los vectores y sus metadatos, que son el artículo de origen, la sección y la fecha de actualización, se guardan en Pinecone.</a:t>
                      </a:r>
                    </a:p>
                  </a:txBody>
                  <a:tcPr marL="100584" marR="100584" marT="41148" marB="41148" anchor="ctr">
                    <a:solidFill>
                      <a:srgbClr val="FFFFFF"/>
                    </a:solidFill>
                    <a:lnB w="9525" cap="flat" cmpd="sng" algn="ctr">
                      <a:solidFill>
                        <a:srgbClr val="D5DDE5"/>
                      </a:solidFill>
                      <a:prstDash val="solid"/>
                    </a:lnB>
                  </a:tcPr>
                </a:tc>
                <a:tc>
                  <a:txBody>
                    <a:bodyPr wrap="square"/>
                    <a:lstStyle/>
                    <a:p>
                      <a:pPr algn="l">
                        <a:lnSpc>
                          <a:spcPct val="108000"/>
                        </a:lnSpc>
                      </a:pPr>
                      <a:r>
                        <a:rPr sz="1000" b="0">
                          <a:solidFill>
                            <a:srgbClr val="5A6774"/>
                          </a:solidFill>
                          <a:latin typeface="Calibri"/>
                        </a:rPr>
                        <a:t>Control de versiones del conocimiento. Falta decidir si una versión nueva de un procedimiento reemplaza a la anterior o convive con ella.</a:t>
                      </a:r>
                    </a:p>
                  </a:txBody>
                  <a:tcPr marL="100584" marR="100584" marT="41148" marB="41148" anchor="ctr">
                    <a:solidFill>
                      <a:srgbClr val="FFFFFF"/>
                    </a:solidFill>
                    <a:lnB w="9525" cap="flat" cmpd="sng" algn="ctr">
                      <a:solidFill>
                        <a:srgbClr val="D5DDE5"/>
                      </a:solidFill>
                      <a:prstDash val="solid"/>
                    </a:lnB>
                  </a:tcPr>
                </a:tc>
              </a:tr>
              <a:tr h="713232">
                <a:tc>
                  <a:txBody>
                    <a:bodyPr wrap="square"/>
                    <a:lstStyle/>
                    <a:p>
                      <a:pPr algn="l">
                        <a:lnSpc>
                          <a:spcPct val="108000"/>
                        </a:lnSpc>
                      </a:pPr>
                      <a:r>
                        <a:rPr sz="1000" b="1">
                          <a:solidFill>
                            <a:srgbClr val="0F2438"/>
                          </a:solidFill>
                          <a:latin typeface="Calibri"/>
                        </a:rPr>
                        <a:t>Búsqueda y respuesta</a:t>
                      </a:r>
                    </a:p>
                  </a:txBody>
                  <a:tcPr marL="100584" marR="100584" marT="41148" marB="41148" anchor="ctr">
                    <a:solidFill>
                      <a:srgbClr val="F6F8FA"/>
                    </a:solidFill>
                    <a:lnB w="9525" cap="flat" cmpd="sng" algn="ctr">
                      <a:solidFill>
                        <a:srgbClr val="D5DDE5"/>
                      </a:solidFill>
                      <a:prstDash val="solid"/>
                    </a:lnB>
                  </a:tcPr>
                </a:tc>
                <a:tc>
                  <a:txBody>
                    <a:bodyPr wrap="square"/>
                    <a:lstStyle/>
                    <a:p>
                      <a:pPr algn="l">
                        <a:lnSpc>
                          <a:spcPct val="108000"/>
                        </a:lnSpc>
                      </a:pPr>
                      <a:r>
                        <a:rPr sz="1000" b="0">
                          <a:solidFill>
                            <a:srgbClr val="0F2438"/>
                          </a:solidFill>
                          <a:latin typeface="Calibri"/>
                        </a:rPr>
                        <a:t>Búsqueda por significado de los fragmentos relacionados con la pregunta, y una respuesta directa con sus puntos clave, los artículos que la sustentan y una indicación de cobertura.</a:t>
                      </a:r>
                    </a:p>
                  </a:txBody>
                  <a:tcPr marL="100584" marR="100584" marT="41148" marB="41148" anchor="ctr">
                    <a:solidFill>
                      <a:srgbClr val="F6F8FA"/>
                    </a:solidFill>
                    <a:lnB w="9525" cap="flat" cmpd="sng" algn="ctr">
                      <a:solidFill>
                        <a:srgbClr val="D5DDE5"/>
                      </a:solidFill>
                      <a:prstDash val="solid"/>
                    </a:lnB>
                  </a:tcPr>
                </a:tc>
                <a:tc>
                  <a:txBody>
                    <a:bodyPr wrap="square"/>
                    <a:lstStyle/>
                    <a:p>
                      <a:pPr algn="l">
                        <a:lnSpc>
                          <a:spcPct val="108000"/>
                        </a:lnSpc>
                      </a:pPr>
                      <a:r>
                        <a:rPr sz="1000" b="0">
                          <a:solidFill>
                            <a:srgbClr val="5A6774"/>
                          </a:solidFill>
                          <a:latin typeface="Calibri"/>
                        </a:rPr>
                        <a:t>Respuestas construidas con datos reales de la cuenta de una persona, como saldos o elegibilidad. Respuestas tomadas del conocimiento general del modelo cuando no hay respaldo documental.</a:t>
                      </a:r>
                    </a:p>
                  </a:txBody>
                  <a:tcPr marL="100584" marR="100584" marT="41148" marB="41148" anchor="ctr">
                    <a:solidFill>
                      <a:srgbClr val="F6F8FA"/>
                    </a:solidFill>
                    <a:lnB w="9525" cap="flat" cmpd="sng" algn="ctr">
                      <a:solidFill>
                        <a:srgbClr val="D5DDE5"/>
                      </a:solidFill>
                      <a:prstDash val="solid"/>
                    </a:lnB>
                  </a:tcPr>
                </a:tc>
              </a:tr>
            </a:tbl>
          </a:graphicData>
        </a:graphic>
      </p:graphicFrame>
      <p:sp>
        <p:nvSpPr>
          <p:cNvPr id="10" name="TextBox 9"/>
          <p:cNvSpPr txBox="1"/>
          <p:nvPr/>
        </p:nvSpPr>
        <p:spPr>
          <a:xfrm>
            <a:off x="713232" y="5632704"/>
            <a:ext cx="10765231" cy="384048"/>
          </a:xfrm>
          <a:prstGeom prst="rect">
            <a:avLst/>
          </a:prstGeom>
          <a:noFill/>
        </p:spPr>
        <p:txBody>
          <a:bodyPr wrap="square" lIns="0" rIns="0" tIns="0" bIns="0">
            <a:spAutoFit/>
          </a:bodyPr>
          <a:lstStyle/>
          <a:p>
            <a:pPr algn="l">
              <a:lnSpc>
                <a:spcPct val="124000"/>
              </a:lnSpc>
              <a:spcBef>
                <a:spcPts val="0"/>
              </a:spcBef>
              <a:spcAft>
                <a:spcPts val="0"/>
              </a:spcAft>
            </a:pPr>
            <a:r>
              <a:rPr sz="1150" b="0" i="0">
                <a:solidFill>
                  <a:srgbClr val="5A6774"/>
                </a:solidFill>
                <a:latin typeface="Calibri"/>
              </a:rPr>
              <a:t>Los dos primeros frentes cambian respecto a la propuesta del 31 de agosto. Se retira la carga de archivos y en su lugar el conocimiento se estructura a mano en artículos, que se reindexan cuando cambian.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37744" cy="6858000"/>
          </a:xfrm>
          <a:prstGeom prst="rect">
            <a:avLst/>
          </a:prstGeom>
          <a:solidFill>
            <a:srgbClr val="1331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3" name="TextBox 2"/>
          <p:cNvSpPr txBox="1"/>
          <p:nvPr/>
        </p:nvSpPr>
        <p:spPr>
          <a:xfrm>
            <a:off x="713232" y="475488"/>
            <a:ext cx="10765231" cy="292608"/>
          </a:xfrm>
          <a:prstGeom prst="rect">
            <a:avLst/>
          </a:prstGeom>
          <a:noFill/>
        </p:spPr>
        <p:txBody>
          <a:bodyPr wrap="square" lIns="0" rIns="0" tIns="0" bIns="0">
            <a:spAutoFit/>
          </a:bodyPr>
          <a:lstStyle/>
          <a:p>
            <a:pPr algn="l">
              <a:lnSpc>
                <a:spcPct val="118000"/>
              </a:lnSpc>
              <a:spcBef>
                <a:spcPts val="0"/>
              </a:spcBef>
              <a:spcAft>
                <a:spcPts val="0"/>
              </a:spcAft>
            </a:pPr>
            <a:r>
              <a:rPr sz="1050" b="1" i="0" spc="160">
                <a:solidFill>
                  <a:srgbClr val="1B5EA8"/>
                </a:solidFill>
                <a:latin typeface="Calibri"/>
              </a:rPr>
              <a:t>03 ALCANCE</a:t>
            </a:r>
          </a:p>
        </p:txBody>
      </p:sp>
      <p:sp>
        <p:nvSpPr>
          <p:cNvPr id="4" name="TextBox 3"/>
          <p:cNvSpPr txBox="1"/>
          <p:nvPr/>
        </p:nvSpPr>
        <p:spPr>
          <a:xfrm>
            <a:off x="713232" y="804672"/>
            <a:ext cx="10765231" cy="566928"/>
          </a:xfrm>
          <a:prstGeom prst="rect">
            <a:avLst/>
          </a:prstGeom>
          <a:noFill/>
        </p:spPr>
        <p:txBody>
          <a:bodyPr wrap="square" lIns="0" rIns="0" tIns="0" bIns="0">
            <a:spAutoFit/>
          </a:bodyPr>
          <a:lstStyle/>
          <a:p>
            <a:pPr algn="l">
              <a:lnSpc>
                <a:spcPct val="102000"/>
              </a:lnSpc>
              <a:spcBef>
                <a:spcPts val="0"/>
              </a:spcBef>
              <a:spcAft>
                <a:spcPts val="0"/>
              </a:spcAft>
            </a:pPr>
            <a:r>
              <a:rPr sz="2900" b="1" i="0">
                <a:solidFill>
                  <a:srgbClr val="0F2438"/>
                </a:solidFill>
                <a:latin typeface="Calibri"/>
              </a:rPr>
              <a:t>Qué entra y qué queda fuera, dos de dos</a:t>
            </a:r>
          </a:p>
        </p:txBody>
      </p:sp>
      <p:sp>
        <p:nvSpPr>
          <p:cNvPr id="5" name="Rectangle 4"/>
          <p:cNvSpPr/>
          <p:nvPr/>
        </p:nvSpPr>
        <p:spPr>
          <a:xfrm>
            <a:off x="713232" y="1481328"/>
            <a:ext cx="1325880" cy="41148"/>
          </a:xfrm>
          <a:prstGeom prst="rect">
            <a:avLst/>
          </a:prstGeom>
          <a:solidFill>
            <a:srgbClr val="1B5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6" name="TextBox 5"/>
          <p:cNvSpPr txBox="1"/>
          <p:nvPr/>
        </p:nvSpPr>
        <p:spPr>
          <a:xfrm>
            <a:off x="713232" y="1627632"/>
            <a:ext cx="9258098" cy="384048"/>
          </a:xfrm>
          <a:prstGeom prst="rect">
            <a:avLst/>
          </a:prstGeom>
          <a:noFill/>
        </p:spPr>
        <p:txBody>
          <a:bodyPr wrap="square" lIns="0" rIns="0" tIns="0" bIns="0">
            <a:spAutoFit/>
          </a:bodyPr>
          <a:lstStyle/>
          <a:p>
            <a:pPr algn="l">
              <a:lnSpc>
                <a:spcPct val="122000"/>
              </a:lnSpc>
              <a:spcBef>
                <a:spcPts val="0"/>
              </a:spcBef>
              <a:spcAft>
                <a:spcPts val="0"/>
              </a:spcAft>
            </a:pPr>
            <a:r>
              <a:rPr sz="1350" b="0" i="0">
                <a:solidFill>
                  <a:srgbClr val="5A6774"/>
                </a:solidFill>
                <a:latin typeface="Calibri"/>
              </a:rPr>
              <a:t>Interfaz, acceso, administración del conocimiento y dependencias externas.</a:t>
            </a:r>
          </a:p>
        </p:txBody>
      </p:sp>
      <p:sp>
        <p:nvSpPr>
          <p:cNvPr id="7" name="TextBox 6"/>
          <p:cNvSpPr txBox="1"/>
          <p:nvPr/>
        </p:nvSpPr>
        <p:spPr>
          <a:xfrm>
            <a:off x="713232" y="6382512"/>
            <a:ext cx="7535661" cy="219456"/>
          </a:xfrm>
          <a:prstGeom prst="rect">
            <a:avLst/>
          </a:prstGeom>
          <a:noFill/>
        </p:spPr>
        <p:txBody>
          <a:bodyPr wrap="square" lIns="0" rIns="0" tIns="0" bIns="0">
            <a:spAutoFit/>
          </a:bodyPr>
          <a:lstStyle/>
          <a:p>
            <a:pPr algn="l">
              <a:lnSpc>
                <a:spcPct val="118000"/>
              </a:lnSpc>
              <a:spcBef>
                <a:spcPts val="0"/>
              </a:spcBef>
              <a:spcAft>
                <a:spcPts val="0"/>
              </a:spcAft>
            </a:pPr>
            <a:r>
              <a:rPr sz="900" b="0" i="0">
                <a:solidFill>
                  <a:srgbClr val="8C99A6"/>
                </a:solidFill>
                <a:latin typeface="Calibri"/>
              </a:rPr>
              <a:t>Knowledge Desk   |   Propuesta comercial 001   |   KD12</a:t>
            </a:r>
          </a:p>
        </p:txBody>
      </p:sp>
      <p:sp>
        <p:nvSpPr>
          <p:cNvPr id="8" name="TextBox 7"/>
          <p:cNvSpPr txBox="1"/>
          <p:nvPr/>
        </p:nvSpPr>
        <p:spPr>
          <a:xfrm>
            <a:off x="10381183" y="6382512"/>
            <a:ext cx="1097280" cy="219456"/>
          </a:xfrm>
          <a:prstGeom prst="rect">
            <a:avLst/>
          </a:prstGeom>
          <a:noFill/>
        </p:spPr>
        <p:txBody>
          <a:bodyPr wrap="square" lIns="0" rIns="0" tIns="0" bIns="0">
            <a:spAutoFit/>
          </a:bodyPr>
          <a:lstStyle/>
          <a:p>
            <a:pPr algn="r">
              <a:lnSpc>
                <a:spcPct val="118000"/>
              </a:lnSpc>
              <a:spcBef>
                <a:spcPts val="0"/>
              </a:spcBef>
              <a:spcAft>
                <a:spcPts val="0"/>
              </a:spcAft>
            </a:pPr>
            <a:r>
              <a:rPr sz="900" b="0" i="0">
                <a:solidFill>
                  <a:srgbClr val="8C99A6"/>
                </a:solidFill>
                <a:latin typeface="Calibri"/>
              </a:rPr>
              <a:t>6</a:t>
            </a:r>
          </a:p>
        </p:txBody>
      </p:sp>
      <p:graphicFrame>
        <p:nvGraphicFramePr>
          <p:cNvPr id="9" name="Table 8"/>
          <p:cNvGraphicFramePr>
            <a:graphicFrameLocks noGrp="1"/>
          </p:cNvGraphicFramePr>
          <p:nvPr/>
        </p:nvGraphicFramePr>
        <p:xfrm>
          <a:off x="713232" y="2340864"/>
          <a:ext cx="10765230" cy="3236976"/>
        </p:xfrm>
        <a:graphic>
          <a:graphicData uri="http://schemas.openxmlformats.org/drawingml/2006/table">
            <a:tbl>
              <a:tblPr>
                <a:tableStyleId>{2D5ABB26-0587-4C30-8999-92F81FD0307C}</a:tableStyleId>
              </a:tblPr>
              <a:tblGrid>
                <a:gridCol w="1874519"/>
                <a:gridCol w="4434840"/>
                <a:gridCol w="4455871"/>
              </a:tblGrid>
              <a:tr h="384048">
                <a:tc>
                  <a:txBody>
                    <a:bodyPr wrap="square"/>
                    <a:lstStyle/>
                    <a:p>
                      <a:pPr algn="l">
                        <a:lnSpc>
                          <a:spcPct val="108000"/>
                        </a:lnSpc>
                      </a:pPr>
                      <a:r>
                        <a:rPr sz="1050" b="1">
                          <a:solidFill>
                            <a:srgbClr val="FFFFFF"/>
                          </a:solidFill>
                          <a:latin typeface="Calibri"/>
                        </a:rPr>
                        <a:t>Frente</a:t>
                      </a:r>
                    </a:p>
                  </a:txBody>
                  <a:tcPr marL="100584" marR="100584" marT="41148" marB="41148" anchor="ctr">
                    <a:solidFill>
                      <a:srgbClr val="13314B"/>
                    </a:solidFill>
                    <a:lnB w="9525" cap="flat" cmpd="sng" algn="ctr">
                      <a:solidFill>
                        <a:srgbClr val="13314B"/>
                      </a:solidFill>
                      <a:prstDash val="solid"/>
                    </a:lnB>
                  </a:tcPr>
                </a:tc>
                <a:tc>
                  <a:txBody>
                    <a:bodyPr wrap="square"/>
                    <a:lstStyle/>
                    <a:p>
                      <a:pPr algn="l">
                        <a:lnSpc>
                          <a:spcPct val="108000"/>
                        </a:lnSpc>
                      </a:pPr>
                      <a:r>
                        <a:rPr sz="1050" b="1">
                          <a:solidFill>
                            <a:srgbClr val="FFFFFF"/>
                          </a:solidFill>
                          <a:latin typeface="Calibri"/>
                        </a:rPr>
                        <a:t>Incluye</a:t>
                      </a:r>
                    </a:p>
                  </a:txBody>
                  <a:tcPr marL="100584" marR="100584" marT="41148" marB="41148" anchor="ctr">
                    <a:solidFill>
                      <a:srgbClr val="13314B"/>
                    </a:solidFill>
                    <a:lnB w="9525" cap="flat" cmpd="sng" algn="ctr">
                      <a:solidFill>
                        <a:srgbClr val="13314B"/>
                      </a:solidFill>
                      <a:prstDash val="solid"/>
                    </a:lnB>
                  </a:tcPr>
                </a:tc>
                <a:tc>
                  <a:txBody>
                    <a:bodyPr wrap="square"/>
                    <a:lstStyle/>
                    <a:p>
                      <a:pPr algn="l">
                        <a:lnSpc>
                          <a:spcPct val="108000"/>
                        </a:lnSpc>
                      </a:pPr>
                      <a:r>
                        <a:rPr sz="1050" b="1">
                          <a:solidFill>
                            <a:srgbClr val="FFFFFF"/>
                          </a:solidFill>
                          <a:latin typeface="Calibri"/>
                        </a:rPr>
                        <a:t>No incluye</a:t>
                      </a:r>
                    </a:p>
                  </a:txBody>
                  <a:tcPr marL="100584" marR="100584" marT="41148" marB="41148" anchor="ctr">
                    <a:solidFill>
                      <a:srgbClr val="7A2A22"/>
                    </a:solidFill>
                    <a:lnB w="9525" cap="flat" cmpd="sng" algn="ctr">
                      <a:solidFill>
                        <a:srgbClr val="13314B"/>
                      </a:solidFill>
                      <a:prstDash val="solid"/>
                    </a:lnB>
                  </a:tcPr>
                </a:tc>
              </a:tr>
              <a:tr h="713232">
                <a:tc>
                  <a:txBody>
                    <a:bodyPr wrap="square"/>
                    <a:lstStyle/>
                    <a:p>
                      <a:pPr algn="l">
                        <a:lnSpc>
                          <a:spcPct val="108000"/>
                        </a:lnSpc>
                      </a:pPr>
                      <a:r>
                        <a:rPr sz="1000" b="1">
                          <a:solidFill>
                            <a:srgbClr val="0F2438"/>
                          </a:solidFill>
                          <a:latin typeface="Calibri"/>
                        </a:rPr>
                        <a:t>Interfaz y canal</a:t>
                      </a:r>
                    </a:p>
                  </a:txBody>
                  <a:tcPr marL="100584" marR="100584" marT="41148" marB="41148" anchor="ctr">
                    <a:solidFill>
                      <a:srgbClr val="FFFFFF"/>
                    </a:solidFill>
                    <a:lnB w="9525" cap="flat" cmpd="sng" algn="ctr">
                      <a:solidFill>
                        <a:srgbClr val="D5DDE5"/>
                      </a:solidFill>
                      <a:prstDash val="solid"/>
                    </a:lnB>
                  </a:tcPr>
                </a:tc>
                <a:tc>
                  <a:txBody>
                    <a:bodyPr wrap="square"/>
                    <a:lstStyle/>
                    <a:p>
                      <a:pPr algn="l">
                        <a:lnSpc>
                          <a:spcPct val="108000"/>
                        </a:lnSpc>
                      </a:pPr>
                      <a:r>
                        <a:rPr sz="1000" b="0">
                          <a:solidFill>
                            <a:srgbClr val="0F2438"/>
                          </a:solidFill>
                          <a:latin typeface="Calibri"/>
                        </a:rPr>
                        <a:t>Una interfaz web para preguntar en lenguaje natural, que muestra la respuesta junto con las fuentes citadas, destinada al personal interno.</a:t>
                      </a:r>
                    </a:p>
                  </a:txBody>
                  <a:tcPr marL="100584" marR="100584" marT="41148" marB="41148" anchor="ctr">
                    <a:solidFill>
                      <a:srgbClr val="FFFFFF"/>
                    </a:solidFill>
                    <a:lnB w="9525" cap="flat" cmpd="sng" algn="ctr">
                      <a:solidFill>
                        <a:srgbClr val="D5DDE5"/>
                      </a:solidFill>
                      <a:prstDash val="solid"/>
                    </a:lnB>
                  </a:tcPr>
                </a:tc>
                <a:tc>
                  <a:txBody>
                    <a:bodyPr wrap="square"/>
                    <a:lstStyle/>
                    <a:p>
                      <a:pPr algn="l">
                        <a:lnSpc>
                          <a:spcPct val="108000"/>
                        </a:lnSpc>
                      </a:pPr>
                      <a:r>
                        <a:rPr sz="1000" b="0">
                          <a:solidFill>
                            <a:srgbClr val="5A6774"/>
                          </a:solidFill>
                          <a:latin typeface="Calibri"/>
                        </a:rPr>
                        <a:t>Envío automático de la respuesta al cliente final, porque siempre revisa antes una persona del equipo. Integración con correo o chat corporativo. Aplicación móvil.</a:t>
                      </a:r>
                    </a:p>
                  </a:txBody>
                  <a:tcPr marL="100584" marR="100584" marT="41148" marB="41148" anchor="ctr">
                    <a:solidFill>
                      <a:srgbClr val="FFFFFF"/>
                    </a:solidFill>
                    <a:lnB w="9525" cap="flat" cmpd="sng" algn="ctr">
                      <a:solidFill>
                        <a:srgbClr val="D5DDE5"/>
                      </a:solidFill>
                      <a:prstDash val="solid"/>
                    </a:lnB>
                  </a:tcPr>
                </a:tc>
              </a:tr>
              <a:tr h="713232">
                <a:tc>
                  <a:txBody>
                    <a:bodyPr wrap="square"/>
                    <a:lstStyle/>
                    <a:p>
                      <a:pPr algn="l">
                        <a:lnSpc>
                          <a:spcPct val="108000"/>
                        </a:lnSpc>
                      </a:pPr>
                      <a:r>
                        <a:rPr sz="1000" b="1">
                          <a:solidFill>
                            <a:srgbClr val="0F2438"/>
                          </a:solidFill>
                          <a:latin typeface="Calibri"/>
                        </a:rPr>
                        <a:t>Consultas y acceso</a:t>
                      </a:r>
                    </a:p>
                  </a:txBody>
                  <a:tcPr marL="100584" marR="100584" marT="41148" marB="41148" anchor="ctr">
                    <a:solidFill>
                      <a:srgbClr val="F6F8FA"/>
                    </a:solidFill>
                    <a:lnB w="9525" cap="flat" cmpd="sng" algn="ctr">
                      <a:solidFill>
                        <a:srgbClr val="D5DDE5"/>
                      </a:solidFill>
                      <a:prstDash val="solid"/>
                    </a:lnB>
                  </a:tcPr>
                </a:tc>
                <a:tc>
                  <a:txBody>
                    <a:bodyPr wrap="square"/>
                    <a:lstStyle/>
                    <a:p>
                      <a:pPr algn="l">
                        <a:lnSpc>
                          <a:spcPct val="108000"/>
                        </a:lnSpc>
                      </a:pPr>
                      <a:r>
                        <a:rPr sz="1000" b="0">
                          <a:solidFill>
                            <a:srgbClr val="0F2438"/>
                          </a:solidFill>
                          <a:latin typeface="Calibri"/>
                        </a:rPr>
                        <a:t>Consultas independientes, con acceso directo a la herramienta dentro de un entorno interno controlado.</a:t>
                      </a:r>
                    </a:p>
                  </a:txBody>
                  <a:tcPr marL="100584" marR="100584" marT="41148" marB="41148" anchor="ctr">
                    <a:solidFill>
                      <a:srgbClr val="F6F8FA"/>
                    </a:solidFill>
                    <a:lnB w="9525" cap="flat" cmpd="sng" algn="ctr">
                      <a:solidFill>
                        <a:srgbClr val="D5DDE5"/>
                      </a:solidFill>
                      <a:prstDash val="solid"/>
                    </a:lnB>
                  </a:tcPr>
                </a:tc>
                <a:tc>
                  <a:txBody>
                    <a:bodyPr wrap="square"/>
                    <a:lstStyle/>
                    <a:p>
                      <a:pPr algn="l">
                        <a:lnSpc>
                          <a:spcPct val="108000"/>
                        </a:lnSpc>
                      </a:pPr>
                      <a:r>
                        <a:rPr sz="1000" b="0">
                          <a:solidFill>
                            <a:srgbClr val="5A6774"/>
                          </a:solidFill>
                          <a:latin typeface="Calibri"/>
                        </a:rPr>
                        <a:t>Historial de conversación y preguntas de seguimiento encadenadas, ya que cada consulta se atiende por separado. Autenticación individual, perfiles ni permisos diferenciados.</a:t>
                      </a:r>
                    </a:p>
                  </a:txBody>
                  <a:tcPr marL="100584" marR="100584" marT="41148" marB="41148" anchor="ctr">
                    <a:solidFill>
                      <a:srgbClr val="F6F8FA"/>
                    </a:solidFill>
                    <a:lnB w="9525" cap="flat" cmpd="sng" algn="ctr">
                      <a:solidFill>
                        <a:srgbClr val="D5DDE5"/>
                      </a:solidFill>
                      <a:prstDash val="solid"/>
                    </a:lnB>
                  </a:tcPr>
                </a:tc>
              </a:tr>
              <a:tr h="713232">
                <a:tc>
                  <a:txBody>
                    <a:bodyPr wrap="square"/>
                    <a:lstStyle/>
                    <a:p>
                      <a:pPr algn="l">
                        <a:lnSpc>
                          <a:spcPct val="108000"/>
                        </a:lnSpc>
                      </a:pPr>
                      <a:r>
                        <a:rPr sz="1000" b="1">
                          <a:solidFill>
                            <a:srgbClr val="0F2438"/>
                          </a:solidFill>
                          <a:latin typeface="Calibri"/>
                        </a:rPr>
                        <a:t>Administración del conocimiento</a:t>
                      </a:r>
                    </a:p>
                  </a:txBody>
                  <a:tcPr marL="100584" marR="100584" marT="41148" marB="41148" anchor="ctr">
                    <a:solidFill>
                      <a:srgbClr val="FFFFFF"/>
                    </a:solidFill>
                    <a:lnB w="9525" cap="flat" cmpd="sng" algn="ctr">
                      <a:solidFill>
                        <a:srgbClr val="D5DDE5"/>
                      </a:solidFill>
                      <a:prstDash val="solid"/>
                    </a:lnB>
                  </a:tcPr>
                </a:tc>
                <a:tc>
                  <a:txBody>
                    <a:bodyPr wrap="square"/>
                    <a:lstStyle/>
                    <a:p>
                      <a:pPr algn="l">
                        <a:lnSpc>
                          <a:spcPct val="108000"/>
                        </a:lnSpc>
                      </a:pPr>
                      <a:r>
                        <a:rPr sz="1000" b="0">
                          <a:solidFill>
                            <a:srgbClr val="0F2438"/>
                          </a:solidFill>
                          <a:latin typeface="Calibri"/>
                        </a:rPr>
                        <a:t>El equipo técnico da de alta, reemplaza o retira artículos editando los archivos y volviendo a indexar.</a:t>
                      </a:r>
                    </a:p>
                  </a:txBody>
                  <a:tcPr marL="100584" marR="100584" marT="41148" marB="41148" anchor="ctr">
                    <a:solidFill>
                      <a:srgbClr val="FFFFFF"/>
                    </a:solidFill>
                    <a:lnB w="9525" cap="flat" cmpd="sng" algn="ctr">
                      <a:solidFill>
                        <a:srgbClr val="D5DDE5"/>
                      </a:solidFill>
                      <a:prstDash val="solid"/>
                    </a:lnB>
                  </a:tcPr>
                </a:tc>
                <a:tc>
                  <a:txBody>
                    <a:bodyPr wrap="square"/>
                    <a:lstStyle/>
                    <a:p>
                      <a:pPr algn="l">
                        <a:lnSpc>
                          <a:spcPct val="108000"/>
                        </a:lnSpc>
                      </a:pPr>
                      <a:r>
                        <a:rPr sz="1000" b="0">
                          <a:solidFill>
                            <a:srgbClr val="5A6774"/>
                          </a:solidFill>
                          <a:latin typeface="Calibri"/>
                        </a:rPr>
                        <a:t>Una pantalla administrativa para que el cliente lo haga por su cuenta. Crear, editar o aprobar procedimientos desde la herramienta, que corresponde a un gestor documental.</a:t>
                      </a:r>
                    </a:p>
                  </a:txBody>
                  <a:tcPr marL="100584" marR="100584" marT="41148" marB="41148" anchor="ctr">
                    <a:solidFill>
                      <a:srgbClr val="FFFFFF"/>
                    </a:solidFill>
                    <a:lnB w="9525" cap="flat" cmpd="sng" algn="ctr">
                      <a:solidFill>
                        <a:srgbClr val="D5DDE5"/>
                      </a:solidFill>
                      <a:prstDash val="solid"/>
                    </a:lnB>
                  </a:tcPr>
                </a:tc>
              </a:tr>
              <a:tr h="713232">
                <a:tc>
                  <a:txBody>
                    <a:bodyPr wrap="square"/>
                    <a:lstStyle/>
                    <a:p>
                      <a:pPr algn="l">
                        <a:lnSpc>
                          <a:spcPct val="108000"/>
                        </a:lnSpc>
                      </a:pPr>
                      <a:r>
                        <a:rPr sz="1000" b="1">
                          <a:solidFill>
                            <a:srgbClr val="0F2438"/>
                          </a:solidFill>
                          <a:latin typeface="Calibri"/>
                        </a:rPr>
                        <a:t>Recursos externos</a:t>
                      </a:r>
                    </a:p>
                  </a:txBody>
                  <a:tcPr marL="100584" marR="100584" marT="41148" marB="41148" anchor="ctr">
                    <a:solidFill>
                      <a:srgbClr val="F6F8FA"/>
                    </a:solidFill>
                    <a:lnB w="9525" cap="flat" cmpd="sng" algn="ctr">
                      <a:solidFill>
                        <a:srgbClr val="D5DDE5"/>
                      </a:solidFill>
                      <a:prstDash val="solid"/>
                    </a:lnB>
                  </a:tcPr>
                </a:tc>
                <a:tc>
                  <a:txBody>
                    <a:bodyPr wrap="square"/>
                    <a:lstStyle/>
                    <a:p>
                      <a:pPr algn="l">
                        <a:lnSpc>
                          <a:spcPct val="108000"/>
                        </a:lnSpc>
                      </a:pPr>
                      <a:r>
                        <a:rPr sz="1000" b="0">
                          <a:solidFill>
                            <a:srgbClr val="0F2438"/>
                          </a:solidFill>
                          <a:latin typeface="Calibri"/>
                        </a:rPr>
                        <a:t>El plan asume que desde las primeras etapas están disponibles el material de procedimientos, una persona de contacto del cliente y las credenciales de las plataformas.</a:t>
                      </a:r>
                    </a:p>
                  </a:txBody>
                  <a:tcPr marL="100584" marR="100584" marT="41148" marB="41148" anchor="ctr">
                    <a:solidFill>
                      <a:srgbClr val="F6F8FA"/>
                    </a:solidFill>
                    <a:lnB w="9525" cap="flat" cmpd="sng" algn="ctr">
                      <a:solidFill>
                        <a:srgbClr val="D5DDE5"/>
                      </a:solidFill>
                      <a:prstDash val="solid"/>
                    </a:lnB>
                  </a:tcPr>
                </a:tc>
                <a:tc>
                  <a:txBody>
                    <a:bodyPr wrap="square"/>
                    <a:lstStyle/>
                    <a:p>
                      <a:pPr algn="l">
                        <a:lnSpc>
                          <a:spcPct val="108000"/>
                        </a:lnSpc>
                      </a:pPr>
                      <a:r>
                        <a:rPr sz="1000" b="0">
                          <a:solidFill>
                            <a:srgbClr val="5A6774"/>
                          </a:solidFill>
                          <a:latin typeface="Calibri"/>
                        </a:rPr>
                        <a:t>Garantía sobre el cronograma si alguno de esos tres se retrasa, porque afecta directamente a las fechas.</a:t>
                      </a:r>
                    </a:p>
                  </a:txBody>
                  <a:tcPr marL="100584" marR="100584" marT="41148" marB="41148" anchor="ctr">
                    <a:solidFill>
                      <a:srgbClr val="F6F8FA"/>
                    </a:solidFill>
                    <a:lnB w="9525" cap="flat" cmpd="sng" algn="ctr">
                      <a:solidFill>
                        <a:srgbClr val="D5DDE5"/>
                      </a:solidFill>
                      <a:prstDash val="solid"/>
                    </a:lnB>
                  </a:tcPr>
                </a:tc>
              </a:tr>
            </a:tbl>
          </a:graphicData>
        </a:graphic>
      </p:graphicFrame>
      <p:sp>
        <p:nvSpPr>
          <p:cNvPr id="10" name="TextBox 9"/>
          <p:cNvSpPr txBox="1"/>
          <p:nvPr/>
        </p:nvSpPr>
        <p:spPr>
          <a:xfrm>
            <a:off x="713232" y="5632704"/>
            <a:ext cx="10765231" cy="384048"/>
          </a:xfrm>
          <a:prstGeom prst="rect">
            <a:avLst/>
          </a:prstGeom>
          <a:noFill/>
        </p:spPr>
        <p:txBody>
          <a:bodyPr wrap="square" lIns="0" rIns="0" tIns="0" bIns="0">
            <a:spAutoFit/>
          </a:bodyPr>
          <a:lstStyle/>
          <a:p>
            <a:pPr algn="l">
              <a:lnSpc>
                <a:spcPct val="124000"/>
              </a:lnSpc>
              <a:spcBef>
                <a:spcPts val="0"/>
              </a:spcBef>
              <a:spcAft>
                <a:spcPts val="0"/>
              </a:spcAft>
            </a:pPr>
            <a:r>
              <a:rPr sz="1150" b="0" i="0">
                <a:solidFill>
                  <a:srgbClr val="5A6774"/>
                </a:solidFill>
                <a:latin typeface="Calibri"/>
              </a:rPr>
              <a:t>Lo que no aparece en estas dos láminas queda fuera del proyecto. Una solicitud adicional se registra por escrito, se estima su impacto y entra solo si el cliente aprueba ese impacto.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37744" cy="6858000"/>
          </a:xfrm>
          <a:prstGeom prst="rect">
            <a:avLst/>
          </a:prstGeom>
          <a:solidFill>
            <a:srgbClr val="1331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3" name="TextBox 2"/>
          <p:cNvSpPr txBox="1"/>
          <p:nvPr/>
        </p:nvSpPr>
        <p:spPr>
          <a:xfrm>
            <a:off x="713232" y="475488"/>
            <a:ext cx="10765231" cy="292608"/>
          </a:xfrm>
          <a:prstGeom prst="rect">
            <a:avLst/>
          </a:prstGeom>
          <a:noFill/>
        </p:spPr>
        <p:txBody>
          <a:bodyPr wrap="square" lIns="0" rIns="0" tIns="0" bIns="0">
            <a:spAutoFit/>
          </a:bodyPr>
          <a:lstStyle/>
          <a:p>
            <a:pPr algn="l">
              <a:lnSpc>
                <a:spcPct val="118000"/>
              </a:lnSpc>
              <a:spcBef>
                <a:spcPts val="0"/>
              </a:spcBef>
              <a:spcAft>
                <a:spcPts val="0"/>
              </a:spcAft>
            </a:pPr>
            <a:r>
              <a:rPr sz="1050" b="1" i="0" spc="160">
                <a:solidFill>
                  <a:srgbClr val="1B5EA8"/>
                </a:solidFill>
                <a:latin typeface="Calibri"/>
              </a:rPr>
              <a:t>04 ARQUITECTURA</a:t>
            </a:r>
          </a:p>
        </p:txBody>
      </p:sp>
      <p:sp>
        <p:nvSpPr>
          <p:cNvPr id="4" name="TextBox 3"/>
          <p:cNvSpPr txBox="1"/>
          <p:nvPr/>
        </p:nvSpPr>
        <p:spPr>
          <a:xfrm>
            <a:off x="713232" y="804672"/>
            <a:ext cx="10765231" cy="566928"/>
          </a:xfrm>
          <a:prstGeom prst="rect">
            <a:avLst/>
          </a:prstGeom>
          <a:noFill/>
        </p:spPr>
        <p:txBody>
          <a:bodyPr wrap="square" lIns="0" rIns="0" tIns="0" bIns="0">
            <a:spAutoFit/>
          </a:bodyPr>
          <a:lstStyle/>
          <a:p>
            <a:pPr algn="l">
              <a:lnSpc>
                <a:spcPct val="102000"/>
              </a:lnSpc>
              <a:spcBef>
                <a:spcPts val="0"/>
              </a:spcBef>
              <a:spcAft>
                <a:spcPts val="0"/>
              </a:spcAft>
            </a:pPr>
            <a:r>
              <a:rPr sz="2900" b="1" i="0">
                <a:solidFill>
                  <a:srgbClr val="0F2438"/>
                </a:solidFill>
                <a:latin typeface="Calibri"/>
              </a:rPr>
              <a:t>Cómo funciona</a:t>
            </a:r>
          </a:p>
        </p:txBody>
      </p:sp>
      <p:sp>
        <p:nvSpPr>
          <p:cNvPr id="5" name="Rectangle 4"/>
          <p:cNvSpPr/>
          <p:nvPr/>
        </p:nvSpPr>
        <p:spPr>
          <a:xfrm>
            <a:off x="713232" y="1481328"/>
            <a:ext cx="1325880" cy="41148"/>
          </a:xfrm>
          <a:prstGeom prst="rect">
            <a:avLst/>
          </a:prstGeom>
          <a:solidFill>
            <a:srgbClr val="1B5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6" name="TextBox 5"/>
          <p:cNvSpPr txBox="1"/>
          <p:nvPr/>
        </p:nvSpPr>
        <p:spPr>
          <a:xfrm>
            <a:off x="713232" y="6382512"/>
            <a:ext cx="7535661" cy="219456"/>
          </a:xfrm>
          <a:prstGeom prst="rect">
            <a:avLst/>
          </a:prstGeom>
          <a:noFill/>
        </p:spPr>
        <p:txBody>
          <a:bodyPr wrap="square" lIns="0" rIns="0" tIns="0" bIns="0">
            <a:spAutoFit/>
          </a:bodyPr>
          <a:lstStyle/>
          <a:p>
            <a:pPr algn="l">
              <a:lnSpc>
                <a:spcPct val="118000"/>
              </a:lnSpc>
              <a:spcBef>
                <a:spcPts val="0"/>
              </a:spcBef>
              <a:spcAft>
                <a:spcPts val="0"/>
              </a:spcAft>
            </a:pPr>
            <a:r>
              <a:rPr sz="900" b="0" i="0">
                <a:solidFill>
                  <a:srgbClr val="8C99A6"/>
                </a:solidFill>
                <a:latin typeface="Calibri"/>
              </a:rPr>
              <a:t>Knowledge Desk   |   Propuesta comercial 001   |   KD12</a:t>
            </a:r>
          </a:p>
        </p:txBody>
      </p:sp>
      <p:sp>
        <p:nvSpPr>
          <p:cNvPr id="7" name="TextBox 6"/>
          <p:cNvSpPr txBox="1"/>
          <p:nvPr/>
        </p:nvSpPr>
        <p:spPr>
          <a:xfrm>
            <a:off x="10381183" y="6382512"/>
            <a:ext cx="1097280" cy="219456"/>
          </a:xfrm>
          <a:prstGeom prst="rect">
            <a:avLst/>
          </a:prstGeom>
          <a:noFill/>
        </p:spPr>
        <p:txBody>
          <a:bodyPr wrap="square" lIns="0" rIns="0" tIns="0" bIns="0">
            <a:spAutoFit/>
          </a:bodyPr>
          <a:lstStyle/>
          <a:p>
            <a:pPr algn="r">
              <a:lnSpc>
                <a:spcPct val="118000"/>
              </a:lnSpc>
              <a:spcBef>
                <a:spcPts val="0"/>
              </a:spcBef>
              <a:spcAft>
                <a:spcPts val="0"/>
              </a:spcAft>
            </a:pPr>
            <a:r>
              <a:rPr sz="900" b="0" i="0">
                <a:solidFill>
                  <a:srgbClr val="8C99A6"/>
                </a:solidFill>
                <a:latin typeface="Calibri"/>
              </a:rPr>
              <a:t>7</a:t>
            </a:r>
          </a:p>
        </p:txBody>
      </p:sp>
      <p:sp>
        <p:nvSpPr>
          <p:cNvPr id="8" name="TextBox 7"/>
          <p:cNvSpPr txBox="1"/>
          <p:nvPr/>
        </p:nvSpPr>
        <p:spPr>
          <a:xfrm>
            <a:off x="713232" y="1664208"/>
            <a:ext cx="10765231" cy="256032"/>
          </a:xfrm>
          <a:prstGeom prst="rect">
            <a:avLst/>
          </a:prstGeom>
          <a:noFill/>
        </p:spPr>
        <p:txBody>
          <a:bodyPr wrap="square" lIns="0" rIns="0" tIns="0" bIns="0">
            <a:spAutoFit/>
          </a:bodyPr>
          <a:lstStyle/>
          <a:p>
            <a:pPr algn="l">
              <a:lnSpc>
                <a:spcPct val="118000"/>
              </a:lnSpc>
              <a:spcBef>
                <a:spcPts val="0"/>
              </a:spcBef>
              <a:spcAft>
                <a:spcPts val="0"/>
              </a:spcAft>
            </a:pPr>
            <a:r>
              <a:rPr sz="1000" b="1" i="0" spc="160">
                <a:solidFill>
                  <a:srgbClr val="5A6774"/>
                </a:solidFill>
                <a:latin typeface="Calibri"/>
              </a:rPr>
              <a:t>PREPARACIÓN DEL CONOCIMIENTO, TRABAJO DEL EQUIPO</a:t>
            </a:r>
          </a:p>
        </p:txBody>
      </p:sp>
      <p:sp>
        <p:nvSpPr>
          <p:cNvPr id="9" name="Rectangle 8"/>
          <p:cNvSpPr/>
          <p:nvPr/>
        </p:nvSpPr>
        <p:spPr>
          <a:xfrm>
            <a:off x="713232" y="1956816"/>
            <a:ext cx="3393338" cy="859536"/>
          </a:xfrm>
          <a:prstGeom prst="rect">
            <a:avLst/>
          </a:prstGeom>
          <a:solidFill>
            <a:srgbClr val="FFFFFF"/>
          </a:solidFill>
          <a:ln w="9525">
            <a:solidFill>
              <a:srgbClr val="B9D1EC"/>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lnSpc>
                <a:spcPct val="105000"/>
              </a:lnSpc>
              <a:spcBef>
                <a:spcPts val="0"/>
              </a:spcBef>
              <a:spcAft>
                <a:spcPts val="0"/>
              </a:spcAft>
            </a:pPr>
            <a:r>
              <a:rPr sz="1350" b="1" i="0">
                <a:solidFill>
                  <a:srgbClr val="0F2438"/>
                </a:solidFill>
                <a:latin typeface="Calibri"/>
              </a:rPr>
              <a:t>Estructuración en JSON</a:t>
            </a:r>
          </a:p>
          <a:p>
            <a:pPr algn="ctr">
              <a:lnSpc>
                <a:spcPct val="116000"/>
              </a:lnSpc>
              <a:spcBef>
                <a:spcPts val="300"/>
              </a:spcBef>
              <a:spcAft>
                <a:spcPts val="0"/>
              </a:spcAft>
            </a:pPr>
            <a:r>
              <a:rPr sz="1050" b="0" i="0">
                <a:solidFill>
                  <a:srgbClr val="5A6774"/>
                </a:solidFill>
                <a:latin typeface="Calibri"/>
              </a:rPr>
              <a:t>un artículo por procedimiento, con metadatos y secciones</a:t>
            </a:r>
          </a:p>
        </p:txBody>
      </p:sp>
      <p:sp>
        <p:nvSpPr>
          <p:cNvPr id="10" name="Right Arrow 9"/>
          <p:cNvSpPr/>
          <p:nvPr/>
        </p:nvSpPr>
        <p:spPr>
          <a:xfrm>
            <a:off x="4134002" y="2304288"/>
            <a:ext cx="237744" cy="155448"/>
          </a:xfrm>
          <a:prstGeom prst="rightArrow">
            <a:avLst/>
          </a:prstGeom>
          <a:solidFill>
            <a:srgbClr val="B9D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9178" y="1956816"/>
            <a:ext cx="3393338" cy="859536"/>
          </a:xfrm>
          <a:prstGeom prst="rect">
            <a:avLst/>
          </a:prstGeom>
          <a:solidFill>
            <a:srgbClr val="FFFFFF"/>
          </a:solidFill>
          <a:ln w="9525">
            <a:solidFill>
              <a:srgbClr val="B9D1EC"/>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lnSpc>
                <a:spcPct val="105000"/>
              </a:lnSpc>
              <a:spcBef>
                <a:spcPts val="0"/>
              </a:spcBef>
              <a:spcAft>
                <a:spcPts val="0"/>
              </a:spcAft>
            </a:pPr>
            <a:r>
              <a:rPr sz="1350" b="1" i="0">
                <a:solidFill>
                  <a:srgbClr val="0F2438"/>
                </a:solidFill>
                <a:latin typeface="Calibri"/>
              </a:rPr>
              <a:t>Segmentación por importancia</a:t>
            </a:r>
          </a:p>
          <a:p>
            <a:pPr algn="ctr">
              <a:lnSpc>
                <a:spcPct val="116000"/>
              </a:lnSpc>
              <a:spcBef>
                <a:spcPts val="300"/>
              </a:spcBef>
              <a:spcAft>
                <a:spcPts val="0"/>
              </a:spcAft>
            </a:pPr>
            <a:r>
              <a:rPr sz="1050" b="0" i="0">
                <a:solidFill>
                  <a:srgbClr val="5A6774"/>
                </a:solidFill>
                <a:latin typeface="Calibri"/>
              </a:rPr>
              <a:t>cada fragmento se marca como crítico, alto, medio o bajo</a:t>
            </a:r>
          </a:p>
        </p:txBody>
      </p:sp>
      <p:sp>
        <p:nvSpPr>
          <p:cNvPr id="12" name="Right Arrow 11"/>
          <p:cNvSpPr/>
          <p:nvPr/>
        </p:nvSpPr>
        <p:spPr>
          <a:xfrm>
            <a:off x="7819948" y="2304288"/>
            <a:ext cx="237744" cy="155448"/>
          </a:xfrm>
          <a:prstGeom prst="rightArrow">
            <a:avLst/>
          </a:prstGeom>
          <a:solidFill>
            <a:srgbClr val="B9D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85124" y="1956816"/>
            <a:ext cx="3393338" cy="859536"/>
          </a:xfrm>
          <a:prstGeom prst="rect">
            <a:avLst/>
          </a:prstGeom>
          <a:solidFill>
            <a:srgbClr val="FFFFFF"/>
          </a:solidFill>
          <a:ln w="9525">
            <a:solidFill>
              <a:srgbClr val="B9D1EC"/>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lnSpc>
                <a:spcPct val="105000"/>
              </a:lnSpc>
              <a:spcBef>
                <a:spcPts val="0"/>
              </a:spcBef>
              <a:spcAft>
                <a:spcPts val="0"/>
              </a:spcAft>
            </a:pPr>
            <a:r>
              <a:rPr sz="1350" b="1" i="0">
                <a:solidFill>
                  <a:srgbClr val="0F2438"/>
                </a:solidFill>
                <a:latin typeface="Calibri"/>
              </a:rPr>
              <a:t>Vectorización e indexación</a:t>
            </a:r>
          </a:p>
          <a:p>
            <a:pPr algn="ctr">
              <a:lnSpc>
                <a:spcPct val="116000"/>
              </a:lnSpc>
              <a:spcBef>
                <a:spcPts val="300"/>
              </a:spcBef>
              <a:spcAft>
                <a:spcPts val="0"/>
              </a:spcAft>
            </a:pPr>
            <a:r>
              <a:rPr sz="1050" b="0" i="0">
                <a:solidFill>
                  <a:srgbClr val="5A6774"/>
                </a:solidFill>
                <a:latin typeface="Calibri"/>
              </a:rPr>
              <a:t>cada fragmento pasa a ser un vector con sus metadatos</a:t>
            </a:r>
          </a:p>
        </p:txBody>
      </p:sp>
      <p:sp>
        <p:nvSpPr>
          <p:cNvPr id="14" name="Down Arrow 13"/>
          <p:cNvSpPr/>
          <p:nvPr/>
        </p:nvSpPr>
        <p:spPr>
          <a:xfrm>
            <a:off x="6013551" y="2871216"/>
            <a:ext cx="164592" cy="237744"/>
          </a:xfrm>
          <a:prstGeom prst="downArrow">
            <a:avLst/>
          </a:prstGeom>
          <a:solidFill>
            <a:srgbClr val="B9D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 y="3163824"/>
            <a:ext cx="10765231" cy="822960"/>
          </a:xfrm>
          <a:prstGeom prst="rect">
            <a:avLst/>
          </a:prstGeom>
          <a:solidFill>
            <a:srgbClr val="1331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lnSpc>
                <a:spcPct val="105000"/>
              </a:lnSpc>
              <a:spcBef>
                <a:spcPts val="0"/>
              </a:spcBef>
              <a:spcAft>
                <a:spcPts val="0"/>
              </a:spcAft>
            </a:pPr>
            <a:r>
              <a:rPr sz="1500" b="1" i="0">
                <a:solidFill>
                  <a:srgbClr val="FFFFFF"/>
                </a:solidFill>
                <a:latin typeface="Calibri"/>
              </a:rPr>
              <a:t>Pinecone, la base de datos vectorial del proyecto</a:t>
            </a:r>
          </a:p>
          <a:p>
            <a:pPr algn="ctr">
              <a:lnSpc>
                <a:spcPct val="116000"/>
              </a:lnSpc>
              <a:spcBef>
                <a:spcPts val="300"/>
              </a:spcBef>
              <a:spcAft>
                <a:spcPts val="0"/>
              </a:spcAft>
            </a:pPr>
            <a:r>
              <a:rPr sz="1100" b="0" i="0">
                <a:solidFill>
                  <a:srgbClr val="B9D1EC"/>
                </a:solidFill>
                <a:latin typeface="Calibri"/>
              </a:rPr>
              <a:t>Guarda cada vector con el artículo de origen, la sección y la fecha de actualización</a:t>
            </a:r>
          </a:p>
        </p:txBody>
      </p:sp>
      <p:sp>
        <p:nvSpPr>
          <p:cNvPr id="16" name="Down Arrow 15"/>
          <p:cNvSpPr/>
          <p:nvPr/>
        </p:nvSpPr>
        <p:spPr>
          <a:xfrm>
            <a:off x="4631321" y="4041648"/>
            <a:ext cx="164592" cy="237744"/>
          </a:xfrm>
          <a:prstGeom prst="downArrow">
            <a:avLst/>
          </a:prstGeom>
          <a:solidFill>
            <a:srgbClr val="B9D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4370832"/>
            <a:ext cx="10765231" cy="256032"/>
          </a:xfrm>
          <a:prstGeom prst="rect">
            <a:avLst/>
          </a:prstGeom>
          <a:noFill/>
        </p:spPr>
        <p:txBody>
          <a:bodyPr wrap="square" lIns="0" rIns="0" tIns="0" bIns="0">
            <a:spAutoFit/>
          </a:bodyPr>
          <a:lstStyle/>
          <a:p>
            <a:pPr algn="l">
              <a:lnSpc>
                <a:spcPct val="118000"/>
              </a:lnSpc>
              <a:spcBef>
                <a:spcPts val="0"/>
              </a:spcBef>
              <a:spcAft>
                <a:spcPts val="0"/>
              </a:spcAft>
            </a:pPr>
            <a:r>
              <a:rPr sz="1000" b="1" i="0" spc="160">
                <a:solidFill>
                  <a:srgbClr val="5A6774"/>
                </a:solidFill>
                <a:latin typeface="Calibri"/>
              </a:rPr>
              <a:t>CONSULTA, EN CADA PREGUNTA</a:t>
            </a:r>
          </a:p>
        </p:txBody>
      </p:sp>
      <p:sp>
        <p:nvSpPr>
          <p:cNvPr id="18" name="Rectangle 17"/>
          <p:cNvSpPr/>
          <p:nvPr/>
        </p:nvSpPr>
        <p:spPr>
          <a:xfrm>
            <a:off x="713232" y="4663440"/>
            <a:ext cx="2471851" cy="914400"/>
          </a:xfrm>
          <a:prstGeom prst="rect">
            <a:avLst/>
          </a:prstGeom>
          <a:solidFill>
            <a:srgbClr val="FFFFFF"/>
          </a:solidFill>
          <a:ln w="9525">
            <a:solidFill>
              <a:srgbClr val="B9D1EC"/>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lnSpc>
                <a:spcPct val="105000"/>
              </a:lnSpc>
              <a:spcBef>
                <a:spcPts val="0"/>
              </a:spcBef>
              <a:spcAft>
                <a:spcPts val="0"/>
              </a:spcAft>
            </a:pPr>
            <a:r>
              <a:rPr sz="1350" b="1" i="0">
                <a:solidFill>
                  <a:srgbClr val="0F2438"/>
                </a:solidFill>
                <a:latin typeface="Calibri"/>
              </a:rPr>
              <a:t>Pregunta</a:t>
            </a:r>
          </a:p>
          <a:p>
            <a:pPr algn="ctr">
              <a:lnSpc>
                <a:spcPct val="116000"/>
              </a:lnSpc>
              <a:spcBef>
                <a:spcPts val="300"/>
              </a:spcBef>
              <a:spcAft>
                <a:spcPts val="0"/>
              </a:spcAft>
            </a:pPr>
            <a:r>
              <a:rPr sz="1050" b="0" i="0">
                <a:solidFill>
                  <a:srgbClr val="5A6774"/>
                </a:solidFill>
                <a:latin typeface="Calibri"/>
              </a:rPr>
              <a:t>en lenguaje natural, desde la interfaz web</a:t>
            </a:r>
          </a:p>
        </p:txBody>
      </p:sp>
      <p:sp>
        <p:nvSpPr>
          <p:cNvPr id="19" name="Right Arrow 18"/>
          <p:cNvSpPr/>
          <p:nvPr/>
        </p:nvSpPr>
        <p:spPr>
          <a:xfrm>
            <a:off x="3212515" y="5047488"/>
            <a:ext cx="237744" cy="155448"/>
          </a:xfrm>
          <a:prstGeom prst="rightArrow">
            <a:avLst/>
          </a:prstGeom>
          <a:solidFill>
            <a:srgbClr val="B9D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77691" y="4663440"/>
            <a:ext cx="2471851" cy="914400"/>
          </a:xfrm>
          <a:prstGeom prst="rect">
            <a:avLst/>
          </a:prstGeom>
          <a:solidFill>
            <a:srgbClr val="E7EFF8"/>
          </a:solidFill>
          <a:ln w="9525">
            <a:solidFill>
              <a:srgbClr val="B9D1EC"/>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lnSpc>
                <a:spcPct val="105000"/>
              </a:lnSpc>
              <a:spcBef>
                <a:spcPts val="0"/>
              </a:spcBef>
              <a:spcAft>
                <a:spcPts val="0"/>
              </a:spcAft>
            </a:pPr>
            <a:r>
              <a:rPr sz="1350" b="1" i="0">
                <a:solidFill>
                  <a:srgbClr val="0F2438"/>
                </a:solidFill>
                <a:latin typeface="Calibri"/>
              </a:rPr>
              <a:t>Búsqueda por significado</a:t>
            </a:r>
          </a:p>
          <a:p>
            <a:pPr algn="ctr">
              <a:lnSpc>
                <a:spcPct val="116000"/>
              </a:lnSpc>
              <a:spcBef>
                <a:spcPts val="300"/>
              </a:spcBef>
              <a:spcAft>
                <a:spcPts val="0"/>
              </a:spcAft>
            </a:pPr>
            <a:r>
              <a:rPr sz="1050" b="0" i="0">
                <a:solidFill>
                  <a:srgbClr val="5A6774"/>
                </a:solidFill>
                <a:latin typeface="Calibri"/>
              </a:rPr>
              <a:t>se parte en subpreguntas y se busca con todas</a:t>
            </a:r>
          </a:p>
        </p:txBody>
      </p:sp>
      <p:sp>
        <p:nvSpPr>
          <p:cNvPr id="21" name="Right Arrow 20"/>
          <p:cNvSpPr/>
          <p:nvPr/>
        </p:nvSpPr>
        <p:spPr>
          <a:xfrm>
            <a:off x="5976975" y="5047488"/>
            <a:ext cx="237744" cy="155448"/>
          </a:xfrm>
          <a:prstGeom prst="rightArrow">
            <a:avLst/>
          </a:prstGeom>
          <a:solidFill>
            <a:srgbClr val="B9D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42151" y="4663440"/>
            <a:ext cx="2471851" cy="914400"/>
          </a:xfrm>
          <a:prstGeom prst="rect">
            <a:avLst/>
          </a:prstGeom>
          <a:solidFill>
            <a:srgbClr val="E7EFF8"/>
          </a:solidFill>
          <a:ln w="9525">
            <a:solidFill>
              <a:srgbClr val="B9D1EC"/>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lnSpc>
                <a:spcPct val="105000"/>
              </a:lnSpc>
              <a:spcBef>
                <a:spcPts val="0"/>
              </a:spcBef>
              <a:spcAft>
                <a:spcPts val="0"/>
              </a:spcAft>
            </a:pPr>
            <a:r>
              <a:rPr sz="1350" b="1" i="0">
                <a:solidFill>
                  <a:srgbClr val="0F2438"/>
                </a:solidFill>
                <a:latin typeface="Calibri"/>
              </a:rPr>
              <a:t>Contexto y redacción</a:t>
            </a:r>
          </a:p>
          <a:p>
            <a:pPr algn="ctr">
              <a:lnSpc>
                <a:spcPct val="116000"/>
              </a:lnSpc>
              <a:spcBef>
                <a:spcPts val="300"/>
              </a:spcBef>
              <a:spcAft>
                <a:spcPts val="0"/>
              </a:spcAft>
            </a:pPr>
            <a:r>
              <a:rPr sz="1050" b="0" i="0">
                <a:solidFill>
                  <a:srgbClr val="5A6774"/>
                </a:solidFill>
                <a:latin typeface="Calibri"/>
              </a:rPr>
              <a:t>protege lo crítico y redacta con GPT 5.5</a:t>
            </a:r>
          </a:p>
        </p:txBody>
      </p:sp>
      <p:sp>
        <p:nvSpPr>
          <p:cNvPr id="23" name="Right Arrow 22"/>
          <p:cNvSpPr/>
          <p:nvPr/>
        </p:nvSpPr>
        <p:spPr>
          <a:xfrm>
            <a:off x="8741435" y="5047488"/>
            <a:ext cx="237744" cy="155448"/>
          </a:xfrm>
          <a:prstGeom prst="rightArrow">
            <a:avLst/>
          </a:prstGeom>
          <a:solidFill>
            <a:srgbClr val="B9D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06611" y="4663440"/>
            <a:ext cx="2471851" cy="914400"/>
          </a:xfrm>
          <a:prstGeom prst="rect">
            <a:avLst/>
          </a:prstGeom>
          <a:solidFill>
            <a:srgbClr val="FFFFFF"/>
          </a:solidFill>
          <a:ln w="9525">
            <a:solidFill>
              <a:srgbClr val="B9D1EC"/>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lnSpc>
                <a:spcPct val="105000"/>
              </a:lnSpc>
              <a:spcBef>
                <a:spcPts val="0"/>
              </a:spcBef>
              <a:spcAft>
                <a:spcPts val="0"/>
              </a:spcAft>
            </a:pPr>
            <a:r>
              <a:rPr sz="1350" b="1" i="0">
                <a:solidFill>
                  <a:srgbClr val="0F2438"/>
                </a:solidFill>
                <a:latin typeface="Calibri"/>
              </a:rPr>
              <a:t>Respuesta</a:t>
            </a:r>
          </a:p>
          <a:p>
            <a:pPr algn="ctr">
              <a:lnSpc>
                <a:spcPct val="116000"/>
              </a:lnSpc>
              <a:spcBef>
                <a:spcPts val="300"/>
              </a:spcBef>
              <a:spcAft>
                <a:spcPts val="0"/>
              </a:spcAft>
            </a:pPr>
            <a:r>
              <a:rPr sz="1050" b="0" i="0">
                <a:solidFill>
                  <a:srgbClr val="5A6774"/>
                </a:solidFill>
                <a:latin typeface="Calibri"/>
              </a:rPr>
              <a:t>puntos clave, artículos fuente y cobertura</a:t>
            </a:r>
          </a:p>
        </p:txBody>
      </p:sp>
      <p:sp>
        <p:nvSpPr>
          <p:cNvPr id="25" name="TextBox 24"/>
          <p:cNvSpPr txBox="1"/>
          <p:nvPr/>
        </p:nvSpPr>
        <p:spPr>
          <a:xfrm>
            <a:off x="713232" y="5705856"/>
            <a:ext cx="10765231" cy="310896"/>
          </a:xfrm>
          <a:prstGeom prst="rect">
            <a:avLst/>
          </a:prstGeom>
          <a:noFill/>
        </p:spPr>
        <p:txBody>
          <a:bodyPr wrap="square" lIns="0" rIns="0" tIns="0" bIns="0">
            <a:spAutoFit/>
          </a:bodyPr>
          <a:lstStyle/>
          <a:p>
            <a:pPr algn="l">
              <a:lnSpc>
                <a:spcPct val="118000"/>
              </a:lnSpc>
              <a:spcBef>
                <a:spcPts val="0"/>
              </a:spcBef>
              <a:spcAft>
                <a:spcPts val="0"/>
              </a:spcAft>
            </a:pPr>
            <a:r>
              <a:rPr sz="1200" b="0" i="0">
                <a:solidFill>
                  <a:srgbClr val="5A6774"/>
                </a:solidFill>
                <a:latin typeface="Calibri"/>
              </a:rPr>
              <a:t>El modelo no responde de memoria. Primero se busca dentro de los procedimientos de la empresa y solo con ese material se redacta, así que el origen de la respuesta siempre se puede rastrear.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37744" cy="6858000"/>
          </a:xfrm>
          <a:prstGeom prst="rect">
            <a:avLst/>
          </a:prstGeom>
          <a:solidFill>
            <a:srgbClr val="1331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3" name="TextBox 2"/>
          <p:cNvSpPr txBox="1"/>
          <p:nvPr/>
        </p:nvSpPr>
        <p:spPr>
          <a:xfrm>
            <a:off x="713232" y="475488"/>
            <a:ext cx="10765231" cy="292608"/>
          </a:xfrm>
          <a:prstGeom prst="rect">
            <a:avLst/>
          </a:prstGeom>
          <a:noFill/>
        </p:spPr>
        <p:txBody>
          <a:bodyPr wrap="square" lIns="0" rIns="0" tIns="0" bIns="0">
            <a:spAutoFit/>
          </a:bodyPr>
          <a:lstStyle/>
          <a:p>
            <a:pPr algn="l">
              <a:lnSpc>
                <a:spcPct val="118000"/>
              </a:lnSpc>
              <a:spcBef>
                <a:spcPts val="0"/>
              </a:spcBef>
              <a:spcAft>
                <a:spcPts val="0"/>
              </a:spcAft>
            </a:pPr>
            <a:r>
              <a:rPr sz="1050" b="1" i="0" spc="160">
                <a:solidFill>
                  <a:srgbClr val="1B5EA8"/>
                </a:solidFill>
                <a:latin typeface="Calibri"/>
              </a:rPr>
              <a:t>04 ARQUITECTURA</a:t>
            </a:r>
          </a:p>
        </p:txBody>
      </p:sp>
      <p:sp>
        <p:nvSpPr>
          <p:cNvPr id="4" name="TextBox 3"/>
          <p:cNvSpPr txBox="1"/>
          <p:nvPr/>
        </p:nvSpPr>
        <p:spPr>
          <a:xfrm>
            <a:off x="713232" y="804672"/>
            <a:ext cx="10765231" cy="566928"/>
          </a:xfrm>
          <a:prstGeom prst="rect">
            <a:avLst/>
          </a:prstGeom>
          <a:noFill/>
        </p:spPr>
        <p:txBody>
          <a:bodyPr wrap="square" lIns="0" rIns="0" tIns="0" bIns="0">
            <a:spAutoFit/>
          </a:bodyPr>
          <a:lstStyle/>
          <a:p>
            <a:pPr algn="l">
              <a:lnSpc>
                <a:spcPct val="102000"/>
              </a:lnSpc>
              <a:spcBef>
                <a:spcPts val="0"/>
              </a:spcBef>
              <a:spcAft>
                <a:spcPts val="0"/>
              </a:spcAft>
            </a:pPr>
            <a:r>
              <a:rPr sz="2900" b="1" i="0">
                <a:solidFill>
                  <a:srgbClr val="0F2438"/>
                </a:solidFill>
                <a:latin typeface="Calibri"/>
              </a:rPr>
              <a:t>Sobre qué corre</a:t>
            </a:r>
          </a:p>
        </p:txBody>
      </p:sp>
      <p:sp>
        <p:nvSpPr>
          <p:cNvPr id="5" name="Rectangle 4"/>
          <p:cNvSpPr/>
          <p:nvPr/>
        </p:nvSpPr>
        <p:spPr>
          <a:xfrm>
            <a:off x="713232" y="1481328"/>
            <a:ext cx="1325880" cy="41148"/>
          </a:xfrm>
          <a:prstGeom prst="rect">
            <a:avLst/>
          </a:prstGeom>
          <a:solidFill>
            <a:srgbClr val="1B5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6" name="TextBox 5"/>
          <p:cNvSpPr txBox="1"/>
          <p:nvPr/>
        </p:nvSpPr>
        <p:spPr>
          <a:xfrm>
            <a:off x="713232" y="1627632"/>
            <a:ext cx="9258098" cy="384048"/>
          </a:xfrm>
          <a:prstGeom prst="rect">
            <a:avLst/>
          </a:prstGeom>
          <a:noFill/>
        </p:spPr>
        <p:txBody>
          <a:bodyPr wrap="square" lIns="0" rIns="0" tIns="0" bIns="0">
            <a:spAutoFit/>
          </a:bodyPr>
          <a:lstStyle/>
          <a:p>
            <a:pPr algn="l">
              <a:lnSpc>
                <a:spcPct val="122000"/>
              </a:lnSpc>
              <a:spcBef>
                <a:spcPts val="0"/>
              </a:spcBef>
              <a:spcAft>
                <a:spcPts val="0"/>
              </a:spcAft>
            </a:pPr>
            <a:r>
              <a:rPr sz="1350" b="0" i="0">
                <a:solidFill>
                  <a:srgbClr val="5A6774"/>
                </a:solidFill>
                <a:latin typeface="Calibri"/>
              </a:rPr>
              <a:t>Las cuatro primeras filas las fija la propuesta. Las cuatro últimas son decisiones técnicas del equipo, que la propuesta no cierra.</a:t>
            </a:r>
          </a:p>
        </p:txBody>
      </p:sp>
      <p:sp>
        <p:nvSpPr>
          <p:cNvPr id="7" name="TextBox 6"/>
          <p:cNvSpPr txBox="1"/>
          <p:nvPr/>
        </p:nvSpPr>
        <p:spPr>
          <a:xfrm>
            <a:off x="713232" y="6382512"/>
            <a:ext cx="7535661" cy="219456"/>
          </a:xfrm>
          <a:prstGeom prst="rect">
            <a:avLst/>
          </a:prstGeom>
          <a:noFill/>
        </p:spPr>
        <p:txBody>
          <a:bodyPr wrap="square" lIns="0" rIns="0" tIns="0" bIns="0">
            <a:spAutoFit/>
          </a:bodyPr>
          <a:lstStyle/>
          <a:p>
            <a:pPr algn="l">
              <a:lnSpc>
                <a:spcPct val="118000"/>
              </a:lnSpc>
              <a:spcBef>
                <a:spcPts val="0"/>
              </a:spcBef>
              <a:spcAft>
                <a:spcPts val="0"/>
              </a:spcAft>
            </a:pPr>
            <a:r>
              <a:rPr sz="900" b="0" i="0">
                <a:solidFill>
                  <a:srgbClr val="8C99A6"/>
                </a:solidFill>
                <a:latin typeface="Calibri"/>
              </a:rPr>
              <a:t>Knowledge Desk   |   Propuesta comercial 001   |   KD12</a:t>
            </a:r>
          </a:p>
        </p:txBody>
      </p:sp>
      <p:sp>
        <p:nvSpPr>
          <p:cNvPr id="8" name="TextBox 7"/>
          <p:cNvSpPr txBox="1"/>
          <p:nvPr/>
        </p:nvSpPr>
        <p:spPr>
          <a:xfrm>
            <a:off x="10381183" y="6382512"/>
            <a:ext cx="1097280" cy="219456"/>
          </a:xfrm>
          <a:prstGeom prst="rect">
            <a:avLst/>
          </a:prstGeom>
          <a:noFill/>
        </p:spPr>
        <p:txBody>
          <a:bodyPr wrap="square" lIns="0" rIns="0" tIns="0" bIns="0">
            <a:spAutoFit/>
          </a:bodyPr>
          <a:lstStyle/>
          <a:p>
            <a:pPr algn="r">
              <a:lnSpc>
                <a:spcPct val="118000"/>
              </a:lnSpc>
              <a:spcBef>
                <a:spcPts val="0"/>
              </a:spcBef>
              <a:spcAft>
                <a:spcPts val="0"/>
              </a:spcAft>
            </a:pPr>
            <a:r>
              <a:rPr sz="900" b="0" i="0">
                <a:solidFill>
                  <a:srgbClr val="8C99A6"/>
                </a:solidFill>
                <a:latin typeface="Calibri"/>
              </a:rPr>
              <a:t>8</a:t>
            </a:r>
          </a:p>
        </p:txBody>
      </p:sp>
      <p:graphicFrame>
        <p:nvGraphicFramePr>
          <p:cNvPr id="9" name="Table 8"/>
          <p:cNvGraphicFramePr>
            <a:graphicFrameLocks noGrp="1"/>
          </p:cNvGraphicFramePr>
          <p:nvPr/>
        </p:nvGraphicFramePr>
        <p:xfrm>
          <a:off x="713232" y="2340864"/>
          <a:ext cx="10765231" cy="3310128"/>
        </p:xfrm>
        <a:graphic>
          <a:graphicData uri="http://schemas.openxmlformats.org/drawingml/2006/table">
            <a:tbl>
              <a:tblPr>
                <a:tableStyleId>{2D5ABB26-0587-4C30-8999-92F81FD0307C}</a:tableStyleId>
              </a:tblPr>
              <a:tblGrid>
                <a:gridCol w="1600200"/>
                <a:gridCol w="2377440"/>
                <a:gridCol w="5004511"/>
                <a:gridCol w="1783080"/>
              </a:tblGrid>
              <a:tr h="384048">
                <a:tc>
                  <a:txBody>
                    <a:bodyPr wrap="square"/>
                    <a:lstStyle/>
                    <a:p>
                      <a:pPr algn="l">
                        <a:lnSpc>
                          <a:spcPct val="108000"/>
                        </a:lnSpc>
                      </a:pPr>
                      <a:r>
                        <a:rPr sz="1050" b="1">
                          <a:solidFill>
                            <a:srgbClr val="FFFFFF"/>
                          </a:solidFill>
                          <a:latin typeface="Calibri"/>
                        </a:rPr>
                        <a:t>Componente</a:t>
                      </a:r>
                    </a:p>
                  </a:txBody>
                  <a:tcPr marL="91440" marR="91440" marT="41148" marB="41148" anchor="ctr">
                    <a:solidFill>
                      <a:srgbClr val="13314B"/>
                    </a:solidFill>
                    <a:lnB w="9525" cap="flat" cmpd="sng" algn="ctr">
                      <a:solidFill>
                        <a:srgbClr val="13314B"/>
                      </a:solidFill>
                      <a:prstDash val="solid"/>
                    </a:lnB>
                  </a:tcPr>
                </a:tc>
                <a:tc>
                  <a:txBody>
                    <a:bodyPr wrap="square"/>
                    <a:lstStyle/>
                    <a:p>
                      <a:pPr algn="l">
                        <a:lnSpc>
                          <a:spcPct val="108000"/>
                        </a:lnSpc>
                      </a:pPr>
                      <a:r>
                        <a:rPr sz="1050" b="1">
                          <a:solidFill>
                            <a:srgbClr val="FFFFFF"/>
                          </a:solidFill>
                          <a:latin typeface="Calibri"/>
                        </a:rPr>
                        <a:t>Tecnología</a:t>
                      </a:r>
                    </a:p>
                  </a:txBody>
                  <a:tcPr marL="91440" marR="91440" marT="41148" marB="41148" anchor="ctr">
                    <a:solidFill>
                      <a:srgbClr val="13314B"/>
                    </a:solidFill>
                    <a:lnB w="9525" cap="flat" cmpd="sng" algn="ctr">
                      <a:solidFill>
                        <a:srgbClr val="13314B"/>
                      </a:solidFill>
                      <a:prstDash val="solid"/>
                    </a:lnB>
                  </a:tcPr>
                </a:tc>
                <a:tc>
                  <a:txBody>
                    <a:bodyPr wrap="square"/>
                    <a:lstStyle/>
                    <a:p>
                      <a:pPr algn="l">
                        <a:lnSpc>
                          <a:spcPct val="108000"/>
                        </a:lnSpc>
                      </a:pPr>
                      <a:r>
                        <a:rPr sz="1050" b="1">
                          <a:solidFill>
                            <a:srgbClr val="FFFFFF"/>
                          </a:solidFill>
                          <a:latin typeface="Calibri"/>
                        </a:rPr>
                        <a:t>Detalle</a:t>
                      </a:r>
                    </a:p>
                  </a:txBody>
                  <a:tcPr marL="91440" marR="91440" marT="41148" marB="41148" anchor="ctr">
                    <a:solidFill>
                      <a:srgbClr val="13314B"/>
                    </a:solidFill>
                    <a:lnB w="9525" cap="flat" cmpd="sng" algn="ctr">
                      <a:solidFill>
                        <a:srgbClr val="13314B"/>
                      </a:solidFill>
                      <a:prstDash val="solid"/>
                    </a:lnB>
                  </a:tcPr>
                </a:tc>
                <a:tc>
                  <a:txBody>
                    <a:bodyPr wrap="square"/>
                    <a:lstStyle/>
                    <a:p>
                      <a:pPr algn="l">
                        <a:lnSpc>
                          <a:spcPct val="108000"/>
                        </a:lnSpc>
                      </a:pPr>
                      <a:r>
                        <a:rPr sz="1050" b="1">
                          <a:solidFill>
                            <a:srgbClr val="FFFFFF"/>
                          </a:solidFill>
                          <a:latin typeface="Calibri"/>
                        </a:rPr>
                        <a:t>Origen</a:t>
                      </a:r>
                    </a:p>
                  </a:txBody>
                  <a:tcPr marL="91440" marR="91440" marT="41148" marB="41148" anchor="ctr">
                    <a:solidFill>
                      <a:srgbClr val="13314B"/>
                    </a:solidFill>
                    <a:lnB w="9525" cap="flat" cmpd="sng" algn="ctr">
                      <a:solidFill>
                        <a:srgbClr val="13314B"/>
                      </a:solidFill>
                      <a:prstDash val="solid"/>
                    </a:lnB>
                  </a:tcPr>
                </a:tc>
              </a:tr>
              <a:tr h="365760">
                <a:tc>
                  <a:txBody>
                    <a:bodyPr wrap="square"/>
                    <a:lstStyle/>
                    <a:p>
                      <a:pPr algn="l">
                        <a:lnSpc>
                          <a:spcPct val="108000"/>
                        </a:lnSpc>
                      </a:pPr>
                      <a:r>
                        <a:rPr sz="1050" b="1">
                          <a:solidFill>
                            <a:srgbClr val="0F2438"/>
                          </a:solidFill>
                          <a:latin typeface="Calibri"/>
                        </a:rPr>
                        <a:t>Despliegue</a:t>
                      </a:r>
                    </a:p>
                  </a:txBody>
                  <a:tcPr marL="91440" marR="91440" marT="41148" marB="41148" anchor="ctr">
                    <a:solidFill>
                      <a:srgbClr val="FFFFFF"/>
                    </a:solidFill>
                    <a:lnB w="9525" cap="flat" cmpd="sng" algn="ctr">
                      <a:solidFill>
                        <a:srgbClr val="D5DDE5"/>
                      </a:solidFill>
                      <a:prstDash val="solid"/>
                    </a:lnB>
                  </a:tcPr>
                </a:tc>
                <a:tc>
                  <a:txBody>
                    <a:bodyPr wrap="square"/>
                    <a:lstStyle/>
                    <a:p>
                      <a:pPr algn="l">
                        <a:lnSpc>
                          <a:spcPct val="108000"/>
                        </a:lnSpc>
                      </a:pPr>
                      <a:r>
                        <a:rPr sz="1050" b="1">
                          <a:solidFill>
                            <a:srgbClr val="1B5EA8"/>
                          </a:solidFill>
                          <a:latin typeface="Calibri"/>
                        </a:rPr>
                        <a:t>Google Cloud Platform</a:t>
                      </a:r>
                    </a:p>
                  </a:txBody>
                  <a:tcPr marL="91440" marR="91440" marT="41148" marB="41148" anchor="ctr">
                    <a:solidFill>
                      <a:srgbClr val="FFFFFF"/>
                    </a:solidFill>
                    <a:lnB w="9525" cap="flat" cmpd="sng" algn="ctr">
                      <a:solidFill>
                        <a:srgbClr val="D5DDE5"/>
                      </a:solidFill>
                      <a:prstDash val="solid"/>
                    </a:lnB>
                  </a:tcPr>
                </a:tc>
                <a:tc>
                  <a:txBody>
                    <a:bodyPr wrap="square"/>
                    <a:lstStyle/>
                    <a:p>
                      <a:pPr algn="l">
                        <a:lnSpc>
                          <a:spcPct val="108000"/>
                        </a:lnSpc>
                      </a:pPr>
                      <a:r>
                        <a:rPr sz="1050" b="0">
                          <a:solidFill>
                            <a:srgbClr val="5A6774"/>
                          </a:solidFill>
                          <a:latin typeface="Calibri"/>
                        </a:rPr>
                        <a:t>La solución se publica en un entorno accesible para el área interna</a:t>
                      </a:r>
                    </a:p>
                  </a:txBody>
                  <a:tcPr marL="91440" marR="91440" marT="41148" marB="41148" anchor="ctr">
                    <a:solidFill>
                      <a:srgbClr val="FFFFFF"/>
                    </a:solidFill>
                    <a:lnB w="9525" cap="flat" cmpd="sng" algn="ctr">
                      <a:solidFill>
                        <a:srgbClr val="D5DDE5"/>
                      </a:solidFill>
                      <a:prstDash val="solid"/>
                    </a:lnB>
                  </a:tcPr>
                </a:tc>
                <a:tc>
                  <a:txBody>
                    <a:bodyPr wrap="square"/>
                    <a:lstStyle/>
                    <a:p>
                      <a:pPr algn="l">
                        <a:lnSpc>
                          <a:spcPct val="108000"/>
                        </a:lnSpc>
                      </a:pPr>
                      <a:r>
                        <a:rPr sz="1050" b="1">
                          <a:solidFill>
                            <a:srgbClr val="1E7A5A"/>
                          </a:solidFill>
                          <a:latin typeface="Calibri"/>
                        </a:rPr>
                        <a:t>Propuesta</a:t>
                      </a:r>
                    </a:p>
                  </a:txBody>
                  <a:tcPr marL="91440" marR="91440" marT="41148" marB="41148" anchor="ctr">
                    <a:solidFill>
                      <a:srgbClr val="FFFFFF"/>
                    </a:solidFill>
                    <a:lnB w="9525" cap="flat" cmpd="sng" algn="ctr">
                      <a:solidFill>
                        <a:srgbClr val="D5DDE5"/>
                      </a:solidFill>
                      <a:prstDash val="solid"/>
                    </a:lnB>
                  </a:tcPr>
                </a:tc>
              </a:tr>
              <a:tr h="365760">
                <a:tc>
                  <a:txBody>
                    <a:bodyPr wrap="square"/>
                    <a:lstStyle/>
                    <a:p>
                      <a:pPr algn="l">
                        <a:lnSpc>
                          <a:spcPct val="108000"/>
                        </a:lnSpc>
                      </a:pPr>
                      <a:r>
                        <a:rPr sz="1050" b="1">
                          <a:solidFill>
                            <a:srgbClr val="0F2438"/>
                          </a:solidFill>
                          <a:latin typeface="Calibri"/>
                        </a:rPr>
                        <a:t>Base vectorial</a:t>
                      </a:r>
                    </a:p>
                  </a:txBody>
                  <a:tcPr marL="91440" marR="91440" marT="41148" marB="41148" anchor="ctr">
                    <a:solidFill>
                      <a:srgbClr val="F6F8FA"/>
                    </a:solidFill>
                    <a:lnB w="9525" cap="flat" cmpd="sng" algn="ctr">
                      <a:solidFill>
                        <a:srgbClr val="D5DDE5"/>
                      </a:solidFill>
                      <a:prstDash val="solid"/>
                    </a:lnB>
                  </a:tcPr>
                </a:tc>
                <a:tc>
                  <a:txBody>
                    <a:bodyPr wrap="square"/>
                    <a:lstStyle/>
                    <a:p>
                      <a:pPr algn="l">
                        <a:lnSpc>
                          <a:spcPct val="108000"/>
                        </a:lnSpc>
                      </a:pPr>
                      <a:r>
                        <a:rPr sz="1050" b="1">
                          <a:solidFill>
                            <a:srgbClr val="1B5EA8"/>
                          </a:solidFill>
                          <a:latin typeface="Calibri"/>
                        </a:rPr>
                        <a:t>Pinecone</a:t>
                      </a:r>
                    </a:p>
                  </a:txBody>
                  <a:tcPr marL="91440" marR="91440" marT="41148" marB="41148" anchor="ctr">
                    <a:solidFill>
                      <a:srgbClr val="F6F8FA"/>
                    </a:solidFill>
                    <a:lnB w="9525" cap="flat" cmpd="sng" algn="ctr">
                      <a:solidFill>
                        <a:srgbClr val="D5DDE5"/>
                      </a:solidFill>
                      <a:prstDash val="solid"/>
                    </a:lnB>
                  </a:tcPr>
                </a:tc>
                <a:tc>
                  <a:txBody>
                    <a:bodyPr wrap="square"/>
                    <a:lstStyle/>
                    <a:p>
                      <a:pPr algn="l">
                        <a:lnSpc>
                          <a:spcPct val="108000"/>
                        </a:lnSpc>
                      </a:pPr>
                      <a:r>
                        <a:rPr sz="1050" b="0">
                          <a:solidFill>
                            <a:srgbClr val="5A6774"/>
                          </a:solidFill>
                          <a:latin typeface="Calibri"/>
                        </a:rPr>
                        <a:t>Guarda los vectores del conocimiento y sus metadatos</a:t>
                      </a:r>
                    </a:p>
                  </a:txBody>
                  <a:tcPr marL="91440" marR="91440" marT="41148" marB="41148" anchor="ctr">
                    <a:solidFill>
                      <a:srgbClr val="F6F8FA"/>
                    </a:solidFill>
                    <a:lnB w="9525" cap="flat" cmpd="sng" algn="ctr">
                      <a:solidFill>
                        <a:srgbClr val="D5DDE5"/>
                      </a:solidFill>
                      <a:prstDash val="solid"/>
                    </a:lnB>
                  </a:tcPr>
                </a:tc>
                <a:tc>
                  <a:txBody>
                    <a:bodyPr wrap="square"/>
                    <a:lstStyle/>
                    <a:p>
                      <a:pPr algn="l">
                        <a:lnSpc>
                          <a:spcPct val="108000"/>
                        </a:lnSpc>
                      </a:pPr>
                      <a:r>
                        <a:rPr sz="1050" b="1">
                          <a:solidFill>
                            <a:srgbClr val="1E7A5A"/>
                          </a:solidFill>
                          <a:latin typeface="Calibri"/>
                        </a:rPr>
                        <a:t>Propuesta</a:t>
                      </a:r>
                    </a:p>
                  </a:txBody>
                  <a:tcPr marL="91440" marR="91440" marT="41148" marB="41148" anchor="ctr">
                    <a:solidFill>
                      <a:srgbClr val="F6F8FA"/>
                    </a:solidFill>
                    <a:lnB w="9525" cap="flat" cmpd="sng" algn="ctr">
                      <a:solidFill>
                        <a:srgbClr val="D5DDE5"/>
                      </a:solidFill>
                      <a:prstDash val="solid"/>
                    </a:lnB>
                  </a:tcPr>
                </a:tc>
              </a:tr>
              <a:tr h="365760">
                <a:tc>
                  <a:txBody>
                    <a:bodyPr wrap="square"/>
                    <a:lstStyle/>
                    <a:p>
                      <a:pPr algn="l">
                        <a:lnSpc>
                          <a:spcPct val="108000"/>
                        </a:lnSpc>
                      </a:pPr>
                      <a:r>
                        <a:rPr sz="1050" b="1">
                          <a:solidFill>
                            <a:srgbClr val="0F2438"/>
                          </a:solidFill>
                          <a:latin typeface="Calibri"/>
                        </a:rPr>
                        <a:t>Modelo de lenguaje</a:t>
                      </a:r>
                    </a:p>
                  </a:txBody>
                  <a:tcPr marL="91440" marR="91440" marT="41148" marB="41148" anchor="ctr">
                    <a:solidFill>
                      <a:srgbClr val="FFFFFF"/>
                    </a:solidFill>
                    <a:lnB w="9525" cap="flat" cmpd="sng" algn="ctr">
                      <a:solidFill>
                        <a:srgbClr val="D5DDE5"/>
                      </a:solidFill>
                      <a:prstDash val="solid"/>
                    </a:lnB>
                  </a:tcPr>
                </a:tc>
                <a:tc>
                  <a:txBody>
                    <a:bodyPr wrap="square"/>
                    <a:lstStyle/>
                    <a:p>
                      <a:pPr algn="l">
                        <a:lnSpc>
                          <a:spcPct val="108000"/>
                        </a:lnSpc>
                      </a:pPr>
                      <a:r>
                        <a:rPr sz="1050" b="1">
                          <a:solidFill>
                            <a:srgbClr val="1B5EA8"/>
                          </a:solidFill>
                          <a:latin typeface="Calibri"/>
                        </a:rPr>
                        <a:t>GPT 5.5</a:t>
                      </a:r>
                    </a:p>
                  </a:txBody>
                  <a:tcPr marL="91440" marR="91440" marT="41148" marB="41148" anchor="ctr">
                    <a:solidFill>
                      <a:srgbClr val="FFFFFF"/>
                    </a:solidFill>
                    <a:lnB w="9525" cap="flat" cmpd="sng" algn="ctr">
                      <a:solidFill>
                        <a:srgbClr val="D5DDE5"/>
                      </a:solidFill>
                      <a:prstDash val="solid"/>
                    </a:lnB>
                  </a:tcPr>
                </a:tc>
                <a:tc>
                  <a:txBody>
                    <a:bodyPr wrap="square"/>
                    <a:lstStyle/>
                    <a:p>
                      <a:pPr algn="l">
                        <a:lnSpc>
                          <a:spcPct val="108000"/>
                        </a:lnSpc>
                      </a:pPr>
                      <a:r>
                        <a:rPr sz="1050" b="0">
                          <a:solidFill>
                            <a:srgbClr val="5A6774"/>
                          </a:solidFill>
                          <a:latin typeface="Calibri"/>
                        </a:rPr>
                        <a:t>Redacta la respuesta con el contexto recuperado</a:t>
                      </a:r>
                    </a:p>
                  </a:txBody>
                  <a:tcPr marL="91440" marR="91440" marT="41148" marB="41148" anchor="ctr">
                    <a:solidFill>
                      <a:srgbClr val="FFFFFF"/>
                    </a:solidFill>
                    <a:lnB w="9525" cap="flat" cmpd="sng" algn="ctr">
                      <a:solidFill>
                        <a:srgbClr val="D5DDE5"/>
                      </a:solidFill>
                      <a:prstDash val="solid"/>
                    </a:lnB>
                  </a:tcPr>
                </a:tc>
                <a:tc>
                  <a:txBody>
                    <a:bodyPr wrap="square"/>
                    <a:lstStyle/>
                    <a:p>
                      <a:pPr algn="l">
                        <a:lnSpc>
                          <a:spcPct val="108000"/>
                        </a:lnSpc>
                      </a:pPr>
                      <a:r>
                        <a:rPr sz="1050" b="1">
                          <a:solidFill>
                            <a:srgbClr val="1E7A5A"/>
                          </a:solidFill>
                          <a:latin typeface="Calibri"/>
                        </a:rPr>
                        <a:t>Propuesta</a:t>
                      </a:r>
                    </a:p>
                  </a:txBody>
                  <a:tcPr marL="91440" marR="91440" marT="41148" marB="41148" anchor="ctr">
                    <a:solidFill>
                      <a:srgbClr val="FFFFFF"/>
                    </a:solidFill>
                    <a:lnB w="9525" cap="flat" cmpd="sng" algn="ctr">
                      <a:solidFill>
                        <a:srgbClr val="D5DDE5"/>
                      </a:solidFill>
                      <a:prstDash val="solid"/>
                    </a:lnB>
                  </a:tcPr>
                </a:tc>
              </a:tr>
              <a:tr h="365760">
                <a:tc>
                  <a:txBody>
                    <a:bodyPr wrap="square"/>
                    <a:lstStyle/>
                    <a:p>
                      <a:pPr algn="l">
                        <a:lnSpc>
                          <a:spcPct val="108000"/>
                        </a:lnSpc>
                      </a:pPr>
                      <a:r>
                        <a:rPr sz="1050" b="1">
                          <a:solidFill>
                            <a:srgbClr val="0F2438"/>
                          </a:solidFill>
                          <a:latin typeface="Calibri"/>
                        </a:rPr>
                        <a:t>Código</a:t>
                      </a:r>
                    </a:p>
                  </a:txBody>
                  <a:tcPr marL="91440" marR="91440" marT="41148" marB="41148" anchor="ctr">
                    <a:solidFill>
                      <a:srgbClr val="F6F8FA"/>
                    </a:solidFill>
                    <a:lnB w="9525" cap="flat" cmpd="sng" algn="ctr">
                      <a:solidFill>
                        <a:srgbClr val="D5DDE5"/>
                      </a:solidFill>
                      <a:prstDash val="solid"/>
                    </a:lnB>
                  </a:tcPr>
                </a:tc>
                <a:tc>
                  <a:txBody>
                    <a:bodyPr wrap="square"/>
                    <a:lstStyle/>
                    <a:p>
                      <a:pPr algn="l">
                        <a:lnSpc>
                          <a:spcPct val="108000"/>
                        </a:lnSpc>
                      </a:pPr>
                      <a:r>
                        <a:rPr sz="1050" b="1">
                          <a:solidFill>
                            <a:srgbClr val="1B5EA8"/>
                          </a:solidFill>
                          <a:latin typeface="Calibri"/>
                        </a:rPr>
                        <a:t>Git y GitHub</a:t>
                      </a:r>
                    </a:p>
                  </a:txBody>
                  <a:tcPr marL="91440" marR="91440" marT="41148" marB="41148" anchor="ctr">
                    <a:solidFill>
                      <a:srgbClr val="F6F8FA"/>
                    </a:solidFill>
                    <a:lnB w="9525" cap="flat" cmpd="sng" algn="ctr">
                      <a:solidFill>
                        <a:srgbClr val="D5DDE5"/>
                      </a:solidFill>
                      <a:prstDash val="solid"/>
                    </a:lnB>
                  </a:tcPr>
                </a:tc>
                <a:tc>
                  <a:txBody>
                    <a:bodyPr wrap="square"/>
                    <a:lstStyle/>
                    <a:p>
                      <a:pPr algn="l">
                        <a:lnSpc>
                          <a:spcPct val="108000"/>
                        </a:lnSpc>
                      </a:pPr>
                      <a:r>
                        <a:rPr sz="1050" b="0">
                          <a:solidFill>
                            <a:srgbClr val="5A6774"/>
                          </a:solidFill>
                          <a:latin typeface="Calibri"/>
                        </a:rPr>
                        <a:t>Repositorio y control de versiones del equipo</a:t>
                      </a:r>
                    </a:p>
                  </a:txBody>
                  <a:tcPr marL="91440" marR="91440" marT="41148" marB="41148" anchor="ctr">
                    <a:solidFill>
                      <a:srgbClr val="F6F8FA"/>
                    </a:solidFill>
                    <a:lnB w="9525" cap="flat" cmpd="sng" algn="ctr">
                      <a:solidFill>
                        <a:srgbClr val="D5DDE5"/>
                      </a:solidFill>
                      <a:prstDash val="solid"/>
                    </a:lnB>
                  </a:tcPr>
                </a:tc>
                <a:tc>
                  <a:txBody>
                    <a:bodyPr wrap="square"/>
                    <a:lstStyle/>
                    <a:p>
                      <a:pPr algn="l">
                        <a:lnSpc>
                          <a:spcPct val="108000"/>
                        </a:lnSpc>
                      </a:pPr>
                      <a:r>
                        <a:rPr sz="1050" b="1">
                          <a:solidFill>
                            <a:srgbClr val="1E7A5A"/>
                          </a:solidFill>
                          <a:latin typeface="Calibri"/>
                        </a:rPr>
                        <a:t>Propuesta</a:t>
                      </a:r>
                    </a:p>
                  </a:txBody>
                  <a:tcPr marL="91440" marR="91440" marT="41148" marB="41148" anchor="ctr">
                    <a:solidFill>
                      <a:srgbClr val="F6F8FA"/>
                    </a:solidFill>
                    <a:lnB w="9525" cap="flat" cmpd="sng" algn="ctr">
                      <a:solidFill>
                        <a:srgbClr val="D5DDE5"/>
                      </a:solidFill>
                      <a:prstDash val="solid"/>
                    </a:lnB>
                  </a:tcPr>
                </a:tc>
              </a:tr>
              <a:tr h="365760">
                <a:tc>
                  <a:txBody>
                    <a:bodyPr wrap="square"/>
                    <a:lstStyle/>
                    <a:p>
                      <a:pPr algn="l">
                        <a:lnSpc>
                          <a:spcPct val="108000"/>
                        </a:lnSpc>
                      </a:pPr>
                      <a:r>
                        <a:rPr sz="1050" b="1">
                          <a:solidFill>
                            <a:srgbClr val="0F2438"/>
                          </a:solidFill>
                          <a:latin typeface="Calibri"/>
                        </a:rPr>
                        <a:t>Servicio</a:t>
                      </a:r>
                    </a:p>
                  </a:txBody>
                  <a:tcPr marL="91440" marR="91440" marT="41148" marB="41148" anchor="ctr">
                    <a:solidFill>
                      <a:srgbClr val="FFFFFF"/>
                    </a:solidFill>
                    <a:lnB w="9525" cap="flat" cmpd="sng" algn="ctr">
                      <a:solidFill>
                        <a:srgbClr val="D5DDE5"/>
                      </a:solidFill>
                      <a:prstDash val="solid"/>
                    </a:lnB>
                  </a:tcPr>
                </a:tc>
                <a:tc>
                  <a:txBody>
                    <a:bodyPr wrap="square"/>
                    <a:lstStyle/>
                    <a:p>
                      <a:pPr algn="l">
                        <a:lnSpc>
                          <a:spcPct val="108000"/>
                        </a:lnSpc>
                      </a:pPr>
                      <a:r>
                        <a:rPr sz="1050" b="1">
                          <a:solidFill>
                            <a:srgbClr val="1B5EA8"/>
                          </a:solidFill>
                          <a:latin typeface="Calibri"/>
                        </a:rPr>
                        <a:t>Contenedor administrado</a:t>
                      </a:r>
                    </a:p>
                  </a:txBody>
                  <a:tcPr marL="91440" marR="91440" marT="41148" marB="41148" anchor="ctr">
                    <a:solidFill>
                      <a:srgbClr val="FFFFFF"/>
                    </a:solidFill>
                    <a:lnB w="9525" cap="flat" cmpd="sng" algn="ctr">
                      <a:solidFill>
                        <a:srgbClr val="D5DDE5"/>
                      </a:solidFill>
                      <a:prstDash val="solid"/>
                    </a:lnB>
                  </a:tcPr>
                </a:tc>
                <a:tc>
                  <a:txBody>
                    <a:bodyPr wrap="square"/>
                    <a:lstStyle/>
                    <a:p>
                      <a:pPr algn="l">
                        <a:lnSpc>
                          <a:spcPct val="108000"/>
                        </a:lnSpc>
                      </a:pPr>
                      <a:r>
                        <a:rPr sz="1050" b="0">
                          <a:solidFill>
                            <a:srgbClr val="5A6774"/>
                          </a:solidFill>
                          <a:latin typeface="Calibri"/>
                        </a:rPr>
                        <a:t>1 vCPU, 512 MiB, escala a cero y máximo 5 instancias</a:t>
                      </a:r>
                    </a:p>
                  </a:txBody>
                  <a:tcPr marL="91440" marR="91440" marT="41148" marB="41148" anchor="ctr">
                    <a:solidFill>
                      <a:srgbClr val="FFFFFF"/>
                    </a:solidFill>
                    <a:lnB w="9525" cap="flat" cmpd="sng" algn="ctr">
                      <a:solidFill>
                        <a:srgbClr val="D5DDE5"/>
                      </a:solidFill>
                      <a:prstDash val="solid"/>
                    </a:lnB>
                  </a:tcPr>
                </a:tc>
                <a:tc>
                  <a:txBody>
                    <a:bodyPr wrap="square"/>
                    <a:lstStyle/>
                    <a:p>
                      <a:pPr algn="l">
                        <a:lnSpc>
                          <a:spcPct val="108000"/>
                        </a:lnSpc>
                      </a:pPr>
                      <a:r>
                        <a:rPr sz="1050" b="1">
                          <a:solidFill>
                            <a:srgbClr val="B0760E"/>
                          </a:solidFill>
                          <a:latin typeface="Calibri"/>
                        </a:rPr>
                        <a:t>Decisión del equipo</a:t>
                      </a:r>
                    </a:p>
                  </a:txBody>
                  <a:tcPr marL="91440" marR="91440" marT="41148" marB="41148" anchor="ctr">
                    <a:solidFill>
                      <a:srgbClr val="FFFFFF"/>
                    </a:solidFill>
                    <a:lnB w="9525" cap="flat" cmpd="sng" algn="ctr">
                      <a:solidFill>
                        <a:srgbClr val="D5DDE5"/>
                      </a:solidFill>
                      <a:prstDash val="solid"/>
                    </a:lnB>
                  </a:tcPr>
                </a:tc>
              </a:tr>
              <a:tr h="365760">
                <a:tc>
                  <a:txBody>
                    <a:bodyPr wrap="square"/>
                    <a:lstStyle/>
                    <a:p>
                      <a:pPr algn="l">
                        <a:lnSpc>
                          <a:spcPct val="108000"/>
                        </a:lnSpc>
                      </a:pPr>
                      <a:r>
                        <a:rPr sz="1050" b="1">
                          <a:solidFill>
                            <a:srgbClr val="0F2438"/>
                          </a:solidFill>
                          <a:latin typeface="Calibri"/>
                        </a:rPr>
                        <a:t>Entrega continua</a:t>
                      </a:r>
                    </a:p>
                  </a:txBody>
                  <a:tcPr marL="91440" marR="91440" marT="41148" marB="41148" anchor="ctr">
                    <a:solidFill>
                      <a:srgbClr val="F6F8FA"/>
                    </a:solidFill>
                    <a:lnB w="9525" cap="flat" cmpd="sng" algn="ctr">
                      <a:solidFill>
                        <a:srgbClr val="D5DDE5"/>
                      </a:solidFill>
                      <a:prstDash val="solid"/>
                    </a:lnB>
                  </a:tcPr>
                </a:tc>
                <a:tc>
                  <a:txBody>
                    <a:bodyPr wrap="square"/>
                    <a:lstStyle/>
                    <a:p>
                      <a:pPr algn="l">
                        <a:lnSpc>
                          <a:spcPct val="108000"/>
                        </a:lnSpc>
                      </a:pPr>
                      <a:r>
                        <a:rPr sz="1050" b="1">
                          <a:solidFill>
                            <a:srgbClr val="1B5EA8"/>
                          </a:solidFill>
                          <a:latin typeface="Calibri"/>
                        </a:rPr>
                        <a:t>Construcción automática</a:t>
                      </a:r>
                    </a:p>
                  </a:txBody>
                  <a:tcPr marL="91440" marR="91440" marT="41148" marB="41148" anchor="ctr">
                    <a:solidFill>
                      <a:srgbClr val="F6F8FA"/>
                    </a:solidFill>
                    <a:lnB w="9525" cap="flat" cmpd="sng" algn="ctr">
                      <a:solidFill>
                        <a:srgbClr val="D5DDE5"/>
                      </a:solidFill>
                      <a:prstDash val="solid"/>
                    </a:lnB>
                  </a:tcPr>
                </a:tc>
                <a:tc>
                  <a:txBody>
                    <a:bodyPr wrap="square"/>
                    <a:lstStyle/>
                    <a:p>
                      <a:pPr algn="l">
                        <a:lnSpc>
                          <a:spcPct val="108000"/>
                        </a:lnSpc>
                      </a:pPr>
                      <a:r>
                        <a:rPr sz="1050" b="0">
                          <a:solidFill>
                            <a:srgbClr val="5A6774"/>
                          </a:solidFill>
                          <a:latin typeface="Calibri"/>
                        </a:rPr>
                        <a:t>Publica en cada cambio y solo si el chequeo de salud pasa</a:t>
                      </a:r>
                    </a:p>
                  </a:txBody>
                  <a:tcPr marL="91440" marR="91440" marT="41148" marB="41148" anchor="ctr">
                    <a:solidFill>
                      <a:srgbClr val="F6F8FA"/>
                    </a:solidFill>
                    <a:lnB w="9525" cap="flat" cmpd="sng" algn="ctr">
                      <a:solidFill>
                        <a:srgbClr val="D5DDE5"/>
                      </a:solidFill>
                      <a:prstDash val="solid"/>
                    </a:lnB>
                  </a:tcPr>
                </a:tc>
                <a:tc>
                  <a:txBody>
                    <a:bodyPr wrap="square"/>
                    <a:lstStyle/>
                    <a:p>
                      <a:pPr algn="l">
                        <a:lnSpc>
                          <a:spcPct val="108000"/>
                        </a:lnSpc>
                      </a:pPr>
                      <a:r>
                        <a:rPr sz="1050" b="1">
                          <a:solidFill>
                            <a:srgbClr val="B0760E"/>
                          </a:solidFill>
                          <a:latin typeface="Calibri"/>
                        </a:rPr>
                        <a:t>Decisión del equipo</a:t>
                      </a:r>
                    </a:p>
                  </a:txBody>
                  <a:tcPr marL="91440" marR="91440" marT="41148" marB="41148" anchor="ctr">
                    <a:solidFill>
                      <a:srgbClr val="F6F8FA"/>
                    </a:solidFill>
                    <a:lnB w="9525" cap="flat" cmpd="sng" algn="ctr">
                      <a:solidFill>
                        <a:srgbClr val="D5DDE5"/>
                      </a:solidFill>
                      <a:prstDash val="solid"/>
                    </a:lnB>
                  </a:tcPr>
                </a:tc>
              </a:tr>
              <a:tr h="365760">
                <a:tc>
                  <a:txBody>
                    <a:bodyPr wrap="square"/>
                    <a:lstStyle/>
                    <a:p>
                      <a:pPr algn="l">
                        <a:lnSpc>
                          <a:spcPct val="108000"/>
                        </a:lnSpc>
                      </a:pPr>
                      <a:r>
                        <a:rPr sz="1050" b="1">
                          <a:solidFill>
                            <a:srgbClr val="0F2438"/>
                          </a:solidFill>
                          <a:latin typeface="Calibri"/>
                        </a:rPr>
                        <a:t>Credenciales</a:t>
                      </a:r>
                    </a:p>
                  </a:txBody>
                  <a:tcPr marL="91440" marR="91440" marT="41148" marB="41148" anchor="ctr">
                    <a:solidFill>
                      <a:srgbClr val="FFFFFF"/>
                    </a:solidFill>
                    <a:lnB w="9525" cap="flat" cmpd="sng" algn="ctr">
                      <a:solidFill>
                        <a:srgbClr val="D5DDE5"/>
                      </a:solidFill>
                      <a:prstDash val="solid"/>
                    </a:lnB>
                  </a:tcPr>
                </a:tc>
                <a:tc>
                  <a:txBody>
                    <a:bodyPr wrap="square"/>
                    <a:lstStyle/>
                    <a:p>
                      <a:pPr algn="l">
                        <a:lnSpc>
                          <a:spcPct val="108000"/>
                        </a:lnSpc>
                      </a:pPr>
                      <a:r>
                        <a:rPr sz="1050" b="1">
                          <a:solidFill>
                            <a:srgbClr val="1B5EA8"/>
                          </a:solidFill>
                          <a:latin typeface="Calibri"/>
                        </a:rPr>
                        <a:t>Gestor de secretos</a:t>
                      </a:r>
                    </a:p>
                  </a:txBody>
                  <a:tcPr marL="91440" marR="91440" marT="41148" marB="41148" anchor="ctr">
                    <a:solidFill>
                      <a:srgbClr val="FFFFFF"/>
                    </a:solidFill>
                    <a:lnB w="9525" cap="flat" cmpd="sng" algn="ctr">
                      <a:solidFill>
                        <a:srgbClr val="D5DDE5"/>
                      </a:solidFill>
                      <a:prstDash val="solid"/>
                    </a:lnB>
                  </a:tcPr>
                </a:tc>
                <a:tc>
                  <a:txBody>
                    <a:bodyPr wrap="square"/>
                    <a:lstStyle/>
                    <a:p>
                      <a:pPr algn="l">
                        <a:lnSpc>
                          <a:spcPct val="108000"/>
                        </a:lnSpc>
                      </a:pPr>
                      <a:r>
                        <a:rPr sz="1050" b="0">
                          <a:solidFill>
                            <a:srgbClr val="5A6774"/>
                          </a:solidFill>
                          <a:latin typeface="Calibri"/>
                        </a:rPr>
                        <a:t>Se inyectan al arrancar y nunca quedan dentro de la imagen</a:t>
                      </a:r>
                    </a:p>
                  </a:txBody>
                  <a:tcPr marL="91440" marR="91440" marT="41148" marB="41148" anchor="ctr">
                    <a:solidFill>
                      <a:srgbClr val="FFFFFF"/>
                    </a:solidFill>
                    <a:lnB w="9525" cap="flat" cmpd="sng" algn="ctr">
                      <a:solidFill>
                        <a:srgbClr val="D5DDE5"/>
                      </a:solidFill>
                      <a:prstDash val="solid"/>
                    </a:lnB>
                  </a:tcPr>
                </a:tc>
                <a:tc>
                  <a:txBody>
                    <a:bodyPr wrap="square"/>
                    <a:lstStyle/>
                    <a:p>
                      <a:pPr algn="l">
                        <a:lnSpc>
                          <a:spcPct val="108000"/>
                        </a:lnSpc>
                      </a:pPr>
                      <a:r>
                        <a:rPr sz="1050" b="1">
                          <a:solidFill>
                            <a:srgbClr val="B0760E"/>
                          </a:solidFill>
                          <a:latin typeface="Calibri"/>
                        </a:rPr>
                        <a:t>Decisión del equipo</a:t>
                      </a:r>
                    </a:p>
                  </a:txBody>
                  <a:tcPr marL="91440" marR="91440" marT="41148" marB="41148" anchor="ctr">
                    <a:solidFill>
                      <a:srgbClr val="FFFFFF"/>
                    </a:solidFill>
                    <a:lnB w="9525" cap="flat" cmpd="sng" algn="ctr">
                      <a:solidFill>
                        <a:srgbClr val="D5DDE5"/>
                      </a:solidFill>
                      <a:prstDash val="solid"/>
                    </a:lnB>
                  </a:tcPr>
                </a:tc>
              </a:tr>
              <a:tr h="365760">
                <a:tc>
                  <a:txBody>
                    <a:bodyPr wrap="square"/>
                    <a:lstStyle/>
                    <a:p>
                      <a:pPr algn="l">
                        <a:lnSpc>
                          <a:spcPct val="108000"/>
                        </a:lnSpc>
                      </a:pPr>
                      <a:r>
                        <a:rPr sz="1050" b="1">
                          <a:solidFill>
                            <a:srgbClr val="0F2438"/>
                          </a:solidFill>
                          <a:latin typeface="Calibri"/>
                        </a:rPr>
                        <a:t>Artículos fuente</a:t>
                      </a:r>
                    </a:p>
                  </a:txBody>
                  <a:tcPr marL="91440" marR="91440" marT="41148" marB="41148" anchor="ctr">
                    <a:solidFill>
                      <a:srgbClr val="F6F8FA"/>
                    </a:solidFill>
                    <a:lnB w="9525" cap="flat" cmpd="sng" algn="ctr">
                      <a:solidFill>
                        <a:srgbClr val="D5DDE5"/>
                      </a:solidFill>
                      <a:prstDash val="solid"/>
                    </a:lnB>
                  </a:tcPr>
                </a:tc>
                <a:tc>
                  <a:txBody>
                    <a:bodyPr wrap="square"/>
                    <a:lstStyle/>
                    <a:p>
                      <a:pPr algn="l">
                        <a:lnSpc>
                          <a:spcPct val="108000"/>
                        </a:lnSpc>
                      </a:pPr>
                      <a:r>
                        <a:rPr sz="1050" b="1">
                          <a:solidFill>
                            <a:srgbClr val="1B5EA8"/>
                          </a:solidFill>
                          <a:latin typeface="Calibri"/>
                        </a:rPr>
                        <a:t>Almacenamiento de objetos</a:t>
                      </a:r>
                    </a:p>
                  </a:txBody>
                  <a:tcPr marL="91440" marR="91440" marT="41148" marB="41148" anchor="ctr">
                    <a:solidFill>
                      <a:srgbClr val="F6F8FA"/>
                    </a:solidFill>
                    <a:lnB w="9525" cap="flat" cmpd="sng" algn="ctr">
                      <a:solidFill>
                        <a:srgbClr val="D5DDE5"/>
                      </a:solidFill>
                      <a:prstDash val="solid"/>
                    </a:lnB>
                  </a:tcPr>
                </a:tc>
                <a:tc>
                  <a:txBody>
                    <a:bodyPr wrap="square"/>
                    <a:lstStyle/>
                    <a:p>
                      <a:pPr algn="l">
                        <a:lnSpc>
                          <a:spcPct val="108000"/>
                        </a:lnSpc>
                      </a:pPr>
                      <a:r>
                        <a:rPr sz="1050" b="0">
                          <a:solidFill>
                            <a:srgbClr val="5A6774"/>
                          </a:solidFill>
                          <a:latin typeface="Calibri"/>
                        </a:rPr>
                        <a:t>Guarda los artículos en JSON, uno por procedimiento</a:t>
                      </a:r>
                    </a:p>
                  </a:txBody>
                  <a:tcPr marL="91440" marR="91440" marT="41148" marB="41148" anchor="ctr">
                    <a:solidFill>
                      <a:srgbClr val="F6F8FA"/>
                    </a:solidFill>
                    <a:lnB w="9525" cap="flat" cmpd="sng" algn="ctr">
                      <a:solidFill>
                        <a:srgbClr val="D5DDE5"/>
                      </a:solidFill>
                      <a:prstDash val="solid"/>
                    </a:lnB>
                  </a:tcPr>
                </a:tc>
                <a:tc>
                  <a:txBody>
                    <a:bodyPr wrap="square"/>
                    <a:lstStyle/>
                    <a:p>
                      <a:pPr algn="l">
                        <a:lnSpc>
                          <a:spcPct val="108000"/>
                        </a:lnSpc>
                      </a:pPr>
                      <a:r>
                        <a:rPr sz="1050" b="1">
                          <a:solidFill>
                            <a:srgbClr val="B0760E"/>
                          </a:solidFill>
                          <a:latin typeface="Calibri"/>
                        </a:rPr>
                        <a:t>Decisión del equipo</a:t>
                      </a:r>
                    </a:p>
                  </a:txBody>
                  <a:tcPr marL="91440" marR="91440" marT="41148" marB="41148" anchor="ctr">
                    <a:solidFill>
                      <a:srgbClr val="F6F8FA"/>
                    </a:solidFill>
                    <a:lnB w="9525" cap="flat" cmpd="sng" algn="ctr">
                      <a:solidFill>
                        <a:srgbClr val="D5DDE5"/>
                      </a:solidFill>
                      <a:prstDash val="solid"/>
                    </a:lnB>
                  </a:tcPr>
                </a:tc>
              </a:tr>
            </a:tbl>
          </a:graphicData>
        </a:graphic>
      </p:graphicFrame>
      <p:sp>
        <p:nvSpPr>
          <p:cNvPr id="10" name="TextBox 9"/>
          <p:cNvSpPr txBox="1"/>
          <p:nvPr/>
        </p:nvSpPr>
        <p:spPr>
          <a:xfrm>
            <a:off x="713232" y="5705856"/>
            <a:ext cx="10765231" cy="365760"/>
          </a:xfrm>
          <a:prstGeom prst="rect">
            <a:avLst/>
          </a:prstGeom>
          <a:noFill/>
        </p:spPr>
        <p:txBody>
          <a:bodyPr wrap="square" lIns="0" rIns="0" tIns="0" bIns="0">
            <a:spAutoFit/>
          </a:bodyPr>
          <a:lstStyle/>
          <a:p>
            <a:pPr algn="l">
              <a:lnSpc>
                <a:spcPct val="124000"/>
              </a:lnSpc>
              <a:spcBef>
                <a:spcPts val="0"/>
              </a:spcBef>
              <a:spcAft>
                <a:spcPts val="0"/>
              </a:spcAft>
            </a:pPr>
            <a:r>
              <a:rPr sz="1150" b="0" i="0">
                <a:solidFill>
                  <a:srgbClr val="5A6774"/>
                </a:solidFill>
                <a:latin typeface="Calibri"/>
              </a:rPr>
              <a:t>El servicio escala a cero cuando nadie consulta. El costo todavía está por definir y sale de dos frentes, las horas del equipo y el consumo de nube, almacenamiento vectorial y APIs de inteligencia artificial.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37744" cy="6858000"/>
          </a:xfrm>
          <a:prstGeom prst="rect">
            <a:avLst/>
          </a:prstGeom>
          <a:solidFill>
            <a:srgbClr val="1331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3" name="TextBox 2"/>
          <p:cNvSpPr txBox="1"/>
          <p:nvPr/>
        </p:nvSpPr>
        <p:spPr>
          <a:xfrm>
            <a:off x="713232" y="475488"/>
            <a:ext cx="10765231" cy="292608"/>
          </a:xfrm>
          <a:prstGeom prst="rect">
            <a:avLst/>
          </a:prstGeom>
          <a:noFill/>
        </p:spPr>
        <p:txBody>
          <a:bodyPr wrap="square" lIns="0" rIns="0" tIns="0" bIns="0">
            <a:spAutoFit/>
          </a:bodyPr>
          <a:lstStyle/>
          <a:p>
            <a:pPr algn="l">
              <a:lnSpc>
                <a:spcPct val="118000"/>
              </a:lnSpc>
              <a:spcBef>
                <a:spcPts val="0"/>
              </a:spcBef>
              <a:spcAft>
                <a:spcPts val="0"/>
              </a:spcAft>
            </a:pPr>
            <a:r>
              <a:rPr sz="1050" b="1" i="0" spc="160">
                <a:solidFill>
                  <a:srgbClr val="1B5EA8"/>
                </a:solidFill>
                <a:latin typeface="Calibri"/>
              </a:rPr>
              <a:t>05 SUPUESTOS</a:t>
            </a:r>
          </a:p>
        </p:txBody>
      </p:sp>
      <p:sp>
        <p:nvSpPr>
          <p:cNvPr id="4" name="TextBox 3"/>
          <p:cNvSpPr txBox="1"/>
          <p:nvPr/>
        </p:nvSpPr>
        <p:spPr>
          <a:xfrm>
            <a:off x="713232" y="804672"/>
            <a:ext cx="10765231" cy="566928"/>
          </a:xfrm>
          <a:prstGeom prst="rect">
            <a:avLst/>
          </a:prstGeom>
          <a:noFill/>
        </p:spPr>
        <p:txBody>
          <a:bodyPr wrap="square" lIns="0" rIns="0" tIns="0" bIns="0">
            <a:spAutoFit/>
          </a:bodyPr>
          <a:lstStyle/>
          <a:p>
            <a:pPr algn="l">
              <a:lnSpc>
                <a:spcPct val="102000"/>
              </a:lnSpc>
              <a:spcBef>
                <a:spcPts val="0"/>
              </a:spcBef>
              <a:spcAft>
                <a:spcPts val="0"/>
              </a:spcAft>
            </a:pPr>
            <a:r>
              <a:rPr sz="2900" b="1" i="0">
                <a:solidFill>
                  <a:srgbClr val="0F2438"/>
                </a:solidFill>
                <a:latin typeface="Calibri"/>
              </a:rPr>
              <a:t>De qué depende que esto funcione</a:t>
            </a:r>
          </a:p>
        </p:txBody>
      </p:sp>
      <p:sp>
        <p:nvSpPr>
          <p:cNvPr id="5" name="Rectangle 4"/>
          <p:cNvSpPr/>
          <p:nvPr/>
        </p:nvSpPr>
        <p:spPr>
          <a:xfrm>
            <a:off x="713232" y="1481328"/>
            <a:ext cx="1325880" cy="41148"/>
          </a:xfrm>
          <a:prstGeom prst="rect">
            <a:avLst/>
          </a:prstGeom>
          <a:solidFill>
            <a:srgbClr val="1B5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6" name="TextBox 5"/>
          <p:cNvSpPr txBox="1"/>
          <p:nvPr/>
        </p:nvSpPr>
        <p:spPr>
          <a:xfrm>
            <a:off x="713232" y="1627632"/>
            <a:ext cx="9258098" cy="384048"/>
          </a:xfrm>
          <a:prstGeom prst="rect">
            <a:avLst/>
          </a:prstGeom>
          <a:noFill/>
        </p:spPr>
        <p:txBody>
          <a:bodyPr wrap="square" lIns="0" rIns="0" tIns="0" bIns="0">
            <a:spAutoFit/>
          </a:bodyPr>
          <a:lstStyle/>
          <a:p>
            <a:pPr algn="l">
              <a:lnSpc>
                <a:spcPct val="122000"/>
              </a:lnSpc>
              <a:spcBef>
                <a:spcPts val="0"/>
              </a:spcBef>
              <a:spcAft>
                <a:spcPts val="0"/>
              </a:spcAft>
            </a:pPr>
            <a:r>
              <a:rPr sz="1350" b="0" i="0">
                <a:solidFill>
                  <a:srgbClr val="5A6774"/>
                </a:solidFill>
                <a:latin typeface="Calibri"/>
              </a:rPr>
              <a:t>Los supuestos de la propuesta, más los que protegen el plazo y la estimación.</a:t>
            </a:r>
          </a:p>
        </p:txBody>
      </p:sp>
      <p:sp>
        <p:nvSpPr>
          <p:cNvPr id="7" name="TextBox 6"/>
          <p:cNvSpPr txBox="1"/>
          <p:nvPr/>
        </p:nvSpPr>
        <p:spPr>
          <a:xfrm>
            <a:off x="713232" y="6382512"/>
            <a:ext cx="7535661" cy="219456"/>
          </a:xfrm>
          <a:prstGeom prst="rect">
            <a:avLst/>
          </a:prstGeom>
          <a:noFill/>
        </p:spPr>
        <p:txBody>
          <a:bodyPr wrap="square" lIns="0" rIns="0" tIns="0" bIns="0">
            <a:spAutoFit/>
          </a:bodyPr>
          <a:lstStyle/>
          <a:p>
            <a:pPr algn="l">
              <a:lnSpc>
                <a:spcPct val="118000"/>
              </a:lnSpc>
              <a:spcBef>
                <a:spcPts val="0"/>
              </a:spcBef>
              <a:spcAft>
                <a:spcPts val="0"/>
              </a:spcAft>
            </a:pPr>
            <a:r>
              <a:rPr sz="900" b="0" i="0">
                <a:solidFill>
                  <a:srgbClr val="8C99A6"/>
                </a:solidFill>
                <a:latin typeface="Calibri"/>
              </a:rPr>
              <a:t>Knowledge Desk   |   Propuesta comercial 001   |   KD12</a:t>
            </a:r>
          </a:p>
        </p:txBody>
      </p:sp>
      <p:sp>
        <p:nvSpPr>
          <p:cNvPr id="8" name="TextBox 7"/>
          <p:cNvSpPr txBox="1"/>
          <p:nvPr/>
        </p:nvSpPr>
        <p:spPr>
          <a:xfrm>
            <a:off x="10381183" y="6382512"/>
            <a:ext cx="1097280" cy="219456"/>
          </a:xfrm>
          <a:prstGeom prst="rect">
            <a:avLst/>
          </a:prstGeom>
          <a:noFill/>
        </p:spPr>
        <p:txBody>
          <a:bodyPr wrap="square" lIns="0" rIns="0" tIns="0" bIns="0">
            <a:spAutoFit/>
          </a:bodyPr>
          <a:lstStyle/>
          <a:p>
            <a:pPr algn="r">
              <a:lnSpc>
                <a:spcPct val="118000"/>
              </a:lnSpc>
              <a:spcBef>
                <a:spcPts val="0"/>
              </a:spcBef>
              <a:spcAft>
                <a:spcPts val="0"/>
              </a:spcAft>
            </a:pPr>
            <a:r>
              <a:rPr sz="900" b="0" i="0">
                <a:solidFill>
                  <a:srgbClr val="8C99A6"/>
                </a:solidFill>
                <a:latin typeface="Calibri"/>
              </a:rPr>
              <a:t>9</a:t>
            </a:r>
          </a:p>
        </p:txBody>
      </p:sp>
      <p:sp>
        <p:nvSpPr>
          <p:cNvPr id="9" name="TextBox 8"/>
          <p:cNvSpPr txBox="1"/>
          <p:nvPr/>
        </p:nvSpPr>
        <p:spPr>
          <a:xfrm>
            <a:off x="713232" y="2267712"/>
            <a:ext cx="5199735" cy="256032"/>
          </a:xfrm>
          <a:prstGeom prst="rect">
            <a:avLst/>
          </a:prstGeom>
          <a:noFill/>
        </p:spPr>
        <p:txBody>
          <a:bodyPr wrap="square" lIns="0" rIns="0" tIns="0" bIns="0">
            <a:spAutoFit/>
          </a:bodyPr>
          <a:lstStyle/>
          <a:p>
            <a:pPr algn="l">
              <a:lnSpc>
                <a:spcPct val="118000"/>
              </a:lnSpc>
              <a:spcBef>
                <a:spcPts val="0"/>
              </a:spcBef>
              <a:spcAft>
                <a:spcPts val="0"/>
              </a:spcAft>
            </a:pPr>
            <a:r>
              <a:rPr sz="1050" b="1" i="0" spc="180">
                <a:solidFill>
                  <a:srgbClr val="1B5EA8"/>
                </a:solidFill>
                <a:latin typeface="Calibri"/>
              </a:rPr>
              <a:t>LO QUE ASUMIMOS DEL CLIENTE</a:t>
            </a:r>
          </a:p>
        </p:txBody>
      </p:sp>
      <p:sp>
        <p:nvSpPr>
          <p:cNvPr id="10" name="TextBox 9"/>
          <p:cNvSpPr txBox="1"/>
          <p:nvPr/>
        </p:nvSpPr>
        <p:spPr>
          <a:xfrm>
            <a:off x="6278727" y="2267712"/>
            <a:ext cx="5199735" cy="256032"/>
          </a:xfrm>
          <a:prstGeom prst="rect">
            <a:avLst/>
          </a:prstGeom>
          <a:noFill/>
        </p:spPr>
        <p:txBody>
          <a:bodyPr wrap="square" lIns="0" rIns="0" tIns="0" bIns="0">
            <a:spAutoFit/>
          </a:bodyPr>
          <a:lstStyle/>
          <a:p>
            <a:pPr algn="l">
              <a:lnSpc>
                <a:spcPct val="118000"/>
              </a:lnSpc>
              <a:spcBef>
                <a:spcPts val="0"/>
              </a:spcBef>
              <a:spcAft>
                <a:spcPts val="0"/>
              </a:spcAft>
            </a:pPr>
            <a:r>
              <a:rPr sz="1050" b="1" i="0" spc="180">
                <a:solidFill>
                  <a:srgbClr val="1B5EA8"/>
                </a:solidFill>
                <a:latin typeface="Calibri"/>
              </a:rPr>
              <a:t>LO QUE ASUMIMOS DEL PROYECTO</a:t>
            </a:r>
          </a:p>
        </p:txBody>
      </p:sp>
      <p:sp>
        <p:nvSpPr>
          <p:cNvPr id="11" name="Rectangle 10"/>
          <p:cNvSpPr/>
          <p:nvPr/>
        </p:nvSpPr>
        <p:spPr>
          <a:xfrm>
            <a:off x="713232" y="2596896"/>
            <a:ext cx="5199735" cy="676656"/>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46304" tIns="73152" bIns="73152"/>
          <a:lstStyle/>
          <a:p>
            <a:pPr algn="l">
              <a:lnSpc>
                <a:spcPct val="105000"/>
              </a:lnSpc>
              <a:spcBef>
                <a:spcPts val="0"/>
              </a:spcBef>
              <a:spcAft>
                <a:spcPts val="0"/>
              </a:spcAft>
            </a:pPr>
            <a:r>
              <a:rPr sz="1250" b="1" i="0">
                <a:solidFill>
                  <a:srgbClr val="0F2438"/>
                </a:solidFill>
                <a:latin typeface="Calibri"/>
              </a:rPr>
              <a:t>Acceso al material</a:t>
            </a:r>
          </a:p>
          <a:p>
            <a:pPr algn="l">
              <a:lnSpc>
                <a:spcPct val="118000"/>
              </a:lnSpc>
              <a:spcBef>
                <a:spcPts val="200"/>
              </a:spcBef>
              <a:spcAft>
                <a:spcPts val="0"/>
              </a:spcAft>
            </a:pPr>
            <a:r>
              <a:rPr sz="1050" b="0" i="0">
                <a:solidFill>
                  <a:srgbClr val="5A6774"/>
                </a:solidFill>
                <a:latin typeface="Calibri"/>
              </a:rPr>
              <a:t>El equipo tiene acceso oportuno al material de procedimientos internos, tanto para construir como para validar.</a:t>
            </a:r>
          </a:p>
        </p:txBody>
      </p:sp>
      <p:sp>
        <p:nvSpPr>
          <p:cNvPr id="12" name="Rectangle 11"/>
          <p:cNvSpPr/>
          <p:nvPr/>
        </p:nvSpPr>
        <p:spPr>
          <a:xfrm>
            <a:off x="713232" y="2596896"/>
            <a:ext cx="45720" cy="676656"/>
          </a:xfrm>
          <a:prstGeom prst="rect">
            <a:avLst/>
          </a:prstGeom>
          <a:solidFill>
            <a:srgbClr val="1B5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13" name="Rectangle 12"/>
          <p:cNvSpPr/>
          <p:nvPr/>
        </p:nvSpPr>
        <p:spPr>
          <a:xfrm>
            <a:off x="713232" y="3310128"/>
            <a:ext cx="5199735" cy="676656"/>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46304" tIns="73152" bIns="73152"/>
          <a:lstStyle/>
          <a:p>
            <a:pPr algn="l">
              <a:lnSpc>
                <a:spcPct val="105000"/>
              </a:lnSpc>
              <a:spcBef>
                <a:spcPts val="0"/>
              </a:spcBef>
              <a:spcAft>
                <a:spcPts val="0"/>
              </a:spcAft>
            </a:pPr>
            <a:r>
              <a:rPr sz="1250" b="1" i="0">
                <a:solidFill>
                  <a:srgbClr val="0F2438"/>
                </a:solidFill>
                <a:latin typeface="Calibri"/>
              </a:rPr>
              <a:t>Persona de contacto</a:t>
            </a:r>
          </a:p>
          <a:p>
            <a:pPr algn="l">
              <a:lnSpc>
                <a:spcPct val="118000"/>
              </a:lnSpc>
              <a:spcBef>
                <a:spcPts val="200"/>
              </a:spcBef>
              <a:spcAft>
                <a:spcPts val="0"/>
              </a:spcAft>
            </a:pPr>
            <a:r>
              <a:rPr sz="1050" b="0" i="0">
                <a:solidFill>
                  <a:srgbClr val="5A6774"/>
                </a:solidFill>
                <a:latin typeface="Calibri"/>
              </a:rPr>
              <a:t>El cliente designa a alguien disponible para resolver dudas, dar retroalimentación y validar resultados.</a:t>
            </a:r>
          </a:p>
        </p:txBody>
      </p:sp>
      <p:sp>
        <p:nvSpPr>
          <p:cNvPr id="14" name="Rectangle 13"/>
          <p:cNvSpPr/>
          <p:nvPr/>
        </p:nvSpPr>
        <p:spPr>
          <a:xfrm>
            <a:off x="713232" y="3310128"/>
            <a:ext cx="45720" cy="676656"/>
          </a:xfrm>
          <a:prstGeom prst="rect">
            <a:avLst/>
          </a:prstGeom>
          <a:solidFill>
            <a:srgbClr val="1B5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15" name="Rectangle 14"/>
          <p:cNvSpPr/>
          <p:nvPr/>
        </p:nvSpPr>
        <p:spPr>
          <a:xfrm>
            <a:off x="713232" y="4023360"/>
            <a:ext cx="5199735" cy="676656"/>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46304" tIns="73152" bIns="73152"/>
          <a:lstStyle/>
          <a:p>
            <a:pPr algn="l">
              <a:lnSpc>
                <a:spcPct val="105000"/>
              </a:lnSpc>
              <a:spcBef>
                <a:spcPts val="0"/>
              </a:spcBef>
              <a:spcAft>
                <a:spcPts val="0"/>
              </a:spcAft>
            </a:pPr>
            <a:r>
              <a:rPr sz="1250" b="1" i="0">
                <a:solidFill>
                  <a:srgbClr val="0F2438"/>
                </a:solidFill>
                <a:latin typeface="Calibri"/>
              </a:rPr>
              <a:t>El contenido se toma como vigente</a:t>
            </a:r>
          </a:p>
          <a:p>
            <a:pPr algn="l">
              <a:lnSpc>
                <a:spcPct val="118000"/>
              </a:lnSpc>
              <a:spcBef>
                <a:spcPts val="200"/>
              </a:spcBef>
              <a:spcAft>
                <a:spcPts val="0"/>
              </a:spcAft>
            </a:pPr>
            <a:r>
              <a:rPr sz="1050" b="0" i="0">
                <a:solidFill>
                  <a:srgbClr val="5A6774"/>
                </a:solidFill>
                <a:latin typeface="Calibri"/>
              </a:rPr>
              <a:t>Los procedimientos se dan por correctos y aprobados. Revisarlos o corregir lo que dicen queda fuera del proyecto.</a:t>
            </a:r>
          </a:p>
        </p:txBody>
      </p:sp>
      <p:sp>
        <p:nvSpPr>
          <p:cNvPr id="16" name="Rectangle 15"/>
          <p:cNvSpPr/>
          <p:nvPr/>
        </p:nvSpPr>
        <p:spPr>
          <a:xfrm>
            <a:off x="713232" y="4023360"/>
            <a:ext cx="45720" cy="676656"/>
          </a:xfrm>
          <a:prstGeom prst="rect">
            <a:avLst/>
          </a:prstGeom>
          <a:solidFill>
            <a:srgbClr val="1B5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17" name="Rectangle 16"/>
          <p:cNvSpPr/>
          <p:nvPr/>
        </p:nvSpPr>
        <p:spPr>
          <a:xfrm>
            <a:off x="713232" y="4736592"/>
            <a:ext cx="5199735" cy="676656"/>
          </a:xfrm>
          <a:prstGeom prst="rect">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46304" tIns="73152" bIns="73152"/>
          <a:lstStyle/>
          <a:p>
            <a:pPr algn="l">
              <a:lnSpc>
                <a:spcPct val="105000"/>
              </a:lnSpc>
              <a:spcBef>
                <a:spcPts val="0"/>
              </a:spcBef>
              <a:spcAft>
                <a:spcPts val="0"/>
              </a:spcAft>
            </a:pPr>
            <a:r>
              <a:rPr sz="1250" b="1" i="0">
                <a:solidFill>
                  <a:srgbClr val="0F2438"/>
                </a:solidFill>
                <a:latin typeface="Calibri"/>
              </a:rPr>
              <a:t>Credenciales a tiempo</a:t>
            </a:r>
          </a:p>
          <a:p>
            <a:pPr algn="l">
              <a:lnSpc>
                <a:spcPct val="118000"/>
              </a:lnSpc>
              <a:spcBef>
                <a:spcPts val="200"/>
              </a:spcBef>
              <a:spcAft>
                <a:spcPts val="0"/>
              </a:spcAft>
            </a:pPr>
            <a:r>
              <a:rPr sz="1050" b="0" i="0">
                <a:solidFill>
                  <a:srgbClr val="5A6774"/>
                </a:solidFill>
                <a:latin typeface="Calibri"/>
              </a:rPr>
              <a:t>Las de Google Cloud Platform, Pinecone y GPT 5.5 están disponibles cuando el equipo las necesita, junto con el repositorio.</a:t>
            </a:r>
          </a:p>
        </p:txBody>
      </p:sp>
      <p:sp>
        <p:nvSpPr>
          <p:cNvPr id="18" name="Rectangle 17"/>
          <p:cNvSpPr/>
          <p:nvPr/>
        </p:nvSpPr>
        <p:spPr>
          <a:xfrm>
            <a:off x="713232" y="4736592"/>
            <a:ext cx="45720" cy="676656"/>
          </a:xfrm>
          <a:prstGeom prst="rect">
            <a:avLst/>
          </a:prstGeom>
          <a:solidFill>
            <a:srgbClr val="1B5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19" name="Rectangle 18"/>
          <p:cNvSpPr/>
          <p:nvPr/>
        </p:nvSpPr>
        <p:spPr>
          <a:xfrm>
            <a:off x="6278727" y="2596896"/>
            <a:ext cx="5199735" cy="676656"/>
          </a:xfrm>
          <a:prstGeom prst="rect">
            <a:avLst/>
          </a:prstGeom>
          <a:solidFill>
            <a:srgbClr val="FFFFFF"/>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46304" tIns="73152" bIns="73152"/>
          <a:lstStyle/>
          <a:p>
            <a:pPr algn="l">
              <a:lnSpc>
                <a:spcPct val="105000"/>
              </a:lnSpc>
              <a:spcBef>
                <a:spcPts val="0"/>
              </a:spcBef>
              <a:spcAft>
                <a:spcPts val="0"/>
              </a:spcAft>
            </a:pPr>
            <a:r>
              <a:rPr sz="1250" b="1" i="0">
                <a:solidFill>
                  <a:srgbClr val="0F2438"/>
                </a:solidFill>
                <a:latin typeface="Calibri"/>
              </a:rPr>
              <a:t>El conocimiento ya está escrito</a:t>
            </a:r>
          </a:p>
          <a:p>
            <a:pPr algn="l">
              <a:lnSpc>
                <a:spcPct val="118000"/>
              </a:lnSpc>
              <a:spcBef>
                <a:spcPts val="200"/>
              </a:spcBef>
              <a:spcAft>
                <a:spcPts val="0"/>
              </a:spcAft>
            </a:pPr>
            <a:r>
              <a:rPr sz="1050" b="0" i="0">
                <a:solidFill>
                  <a:srgbClr val="5A6774"/>
                </a:solidFill>
                <a:latin typeface="Calibri"/>
              </a:rPr>
              <a:t>Lo necesario para responder existe redactado. El equipo lo estructura en artículos, uno por procedimiento.</a:t>
            </a:r>
          </a:p>
        </p:txBody>
      </p:sp>
      <p:sp>
        <p:nvSpPr>
          <p:cNvPr id="20" name="Rectangle 19"/>
          <p:cNvSpPr/>
          <p:nvPr/>
        </p:nvSpPr>
        <p:spPr>
          <a:xfrm>
            <a:off x="6278727" y="2596896"/>
            <a:ext cx="45720" cy="676656"/>
          </a:xfrm>
          <a:prstGeom prst="rect">
            <a:avLst/>
          </a:prstGeom>
          <a:solidFill>
            <a:srgbClr val="1331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21" name="Rectangle 20"/>
          <p:cNvSpPr/>
          <p:nvPr/>
        </p:nvSpPr>
        <p:spPr>
          <a:xfrm>
            <a:off x="6278727" y="3310128"/>
            <a:ext cx="5199735" cy="676656"/>
          </a:xfrm>
          <a:prstGeom prst="rect">
            <a:avLst/>
          </a:prstGeom>
          <a:solidFill>
            <a:srgbClr val="FFFFFF"/>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46304" tIns="73152" bIns="73152"/>
          <a:lstStyle/>
          <a:p>
            <a:pPr algn="l">
              <a:lnSpc>
                <a:spcPct val="105000"/>
              </a:lnSpc>
              <a:spcBef>
                <a:spcPts val="0"/>
              </a:spcBef>
              <a:spcAft>
                <a:spcPts val="0"/>
              </a:spcAft>
            </a:pPr>
            <a:r>
              <a:rPr sz="1250" b="1" i="0">
                <a:solidFill>
                  <a:srgbClr val="0F2438"/>
                </a:solidFill>
                <a:latin typeface="Calibri"/>
              </a:rPr>
              <a:t>Plazo fijo de once semanas</a:t>
            </a:r>
          </a:p>
          <a:p>
            <a:pPr algn="l">
              <a:lnSpc>
                <a:spcPct val="118000"/>
              </a:lnSpc>
              <a:spcBef>
                <a:spcPts val="200"/>
              </a:spcBef>
              <a:spcAft>
                <a:spcPts val="0"/>
              </a:spcAft>
            </a:pPr>
            <a:r>
              <a:rPr sz="1050" b="0" i="0">
                <a:solidFill>
                  <a:srgbClr val="5A6774"/>
                </a:solidFill>
                <a:latin typeface="Calibri"/>
              </a:rPr>
              <a:t>La fecha de entrega final no se mueve, porque viene del calendario de la asignatura.</a:t>
            </a:r>
          </a:p>
        </p:txBody>
      </p:sp>
      <p:sp>
        <p:nvSpPr>
          <p:cNvPr id="22" name="Rectangle 21"/>
          <p:cNvSpPr/>
          <p:nvPr/>
        </p:nvSpPr>
        <p:spPr>
          <a:xfrm>
            <a:off x="6278727" y="3310128"/>
            <a:ext cx="45720" cy="676656"/>
          </a:xfrm>
          <a:prstGeom prst="rect">
            <a:avLst/>
          </a:prstGeom>
          <a:solidFill>
            <a:srgbClr val="1331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23" name="Rectangle 22"/>
          <p:cNvSpPr/>
          <p:nvPr/>
        </p:nvSpPr>
        <p:spPr>
          <a:xfrm>
            <a:off x="6278727" y="4023360"/>
            <a:ext cx="5199735" cy="676656"/>
          </a:xfrm>
          <a:prstGeom prst="rect">
            <a:avLst/>
          </a:prstGeom>
          <a:solidFill>
            <a:srgbClr val="FFFFFF"/>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46304" tIns="73152" bIns="73152"/>
          <a:lstStyle/>
          <a:p>
            <a:pPr algn="l">
              <a:lnSpc>
                <a:spcPct val="105000"/>
              </a:lnSpc>
              <a:spcBef>
                <a:spcPts val="0"/>
              </a:spcBef>
              <a:spcAft>
                <a:spcPts val="0"/>
              </a:spcAft>
            </a:pPr>
            <a:r>
              <a:rPr sz="1250" b="1" i="0">
                <a:solidFill>
                  <a:srgbClr val="0F2438"/>
                </a:solidFill>
                <a:latin typeface="Calibri"/>
              </a:rPr>
              <a:t>Equipo cerrado de cuatro personas</a:t>
            </a:r>
          </a:p>
          <a:p>
            <a:pPr algn="l">
              <a:lnSpc>
                <a:spcPct val="118000"/>
              </a:lnSpc>
              <a:spcBef>
                <a:spcPts val="200"/>
              </a:spcBef>
              <a:spcAft>
                <a:spcPts val="0"/>
              </a:spcAft>
            </a:pPr>
            <a:r>
              <a:rPr sz="1050" b="0" i="0">
                <a:solidFill>
                  <a:srgbClr val="5A6774"/>
                </a:solidFill>
                <a:latin typeface="Calibri"/>
              </a:rPr>
              <a:t>Dedicación parcial y sin posibilidad de ampliar el equipo. De ahí sale la estimación de esfuerzo.</a:t>
            </a:r>
          </a:p>
        </p:txBody>
      </p:sp>
      <p:sp>
        <p:nvSpPr>
          <p:cNvPr id="24" name="Rectangle 23"/>
          <p:cNvSpPr/>
          <p:nvPr/>
        </p:nvSpPr>
        <p:spPr>
          <a:xfrm>
            <a:off x="6278727" y="4023360"/>
            <a:ext cx="45720" cy="676656"/>
          </a:xfrm>
          <a:prstGeom prst="rect">
            <a:avLst/>
          </a:prstGeom>
          <a:solidFill>
            <a:srgbClr val="1331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25" name="Rectangle 24"/>
          <p:cNvSpPr/>
          <p:nvPr/>
        </p:nvSpPr>
        <p:spPr>
          <a:xfrm>
            <a:off x="6278727" y="4736592"/>
            <a:ext cx="5199735" cy="676656"/>
          </a:xfrm>
          <a:prstGeom prst="rect">
            <a:avLst/>
          </a:prstGeom>
          <a:solidFill>
            <a:srgbClr val="FFFFFF"/>
          </a:solidFill>
          <a:ln w="9525">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46304" tIns="73152" bIns="73152"/>
          <a:lstStyle/>
          <a:p>
            <a:pPr algn="l">
              <a:lnSpc>
                <a:spcPct val="105000"/>
              </a:lnSpc>
              <a:spcBef>
                <a:spcPts val="0"/>
              </a:spcBef>
              <a:spcAft>
                <a:spcPts val="0"/>
              </a:spcAft>
            </a:pPr>
            <a:r>
              <a:rPr sz="1250" b="1" i="0">
                <a:solidFill>
                  <a:srgbClr val="0F2438"/>
                </a:solidFill>
                <a:latin typeface="Calibri"/>
              </a:rPr>
              <a:t>Sin datos reales de clientes</a:t>
            </a:r>
          </a:p>
          <a:p>
            <a:pPr algn="l">
              <a:lnSpc>
                <a:spcPct val="118000"/>
              </a:lnSpc>
              <a:spcBef>
                <a:spcPts val="200"/>
              </a:spcBef>
              <a:spcAft>
                <a:spcPts val="0"/>
              </a:spcAft>
            </a:pPr>
            <a:r>
              <a:rPr sz="1050" b="0" i="0">
                <a:solidFill>
                  <a:srgbClr val="5A6774"/>
                </a:solidFill>
                <a:latin typeface="Calibri"/>
              </a:rPr>
              <a:t>El proyecto no usa información personal ni financiera de clientes reales en ningún momento.</a:t>
            </a:r>
          </a:p>
        </p:txBody>
      </p:sp>
      <p:sp>
        <p:nvSpPr>
          <p:cNvPr id="26" name="Rectangle 25"/>
          <p:cNvSpPr/>
          <p:nvPr/>
        </p:nvSpPr>
        <p:spPr>
          <a:xfrm>
            <a:off x="6278727" y="4736592"/>
            <a:ext cx="45720" cy="676656"/>
          </a:xfrm>
          <a:prstGeom prst="rect">
            <a:avLst/>
          </a:prstGeom>
          <a:solidFill>
            <a:srgbClr val="1331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27" name="Rectangle 26"/>
          <p:cNvSpPr/>
          <p:nvPr/>
        </p:nvSpPr>
        <p:spPr>
          <a:xfrm>
            <a:off x="713232" y="5577840"/>
            <a:ext cx="10765231" cy="621792"/>
          </a:xfrm>
          <a:prstGeom prst="rect">
            <a:avLst/>
          </a:prstGeom>
          <a:solidFill>
            <a:srgbClr val="1331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320040" tIns="73152" bIns="73152"/>
          <a:lstStyle/>
          <a:p>
            <a:pPr algn="l">
              <a:lnSpc>
                <a:spcPct val="116000"/>
              </a:lnSpc>
              <a:spcBef>
                <a:spcPts val="0"/>
              </a:spcBef>
              <a:spcAft>
                <a:spcPts val="0"/>
              </a:spcAft>
            </a:pPr>
            <a:r>
              <a:rPr sz="1500" b="1" i="0">
                <a:solidFill>
                  <a:srgbClr val="FFFFFF"/>
                </a:solidFill>
                <a:latin typeface="Calibri"/>
              </a:rPr>
              <a:t>Si el material, la persona de contacto o las credenciales se retrasan, el cronograma se ve afectado y el equipo no lo garantiza.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